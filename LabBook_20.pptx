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56" r:id="rId2"/>
    <p:sldId id="289" r:id="rId3"/>
    <p:sldId id="295" r:id="rId4"/>
    <p:sldId id="304" r:id="rId5"/>
    <p:sldId id="305" r:id="rId6"/>
    <p:sldId id="306" r:id="rId7"/>
    <p:sldId id="302" r:id="rId8"/>
    <p:sldId id="303" r:id="rId9"/>
    <p:sldId id="291" r:id="rId10"/>
    <p:sldId id="296" r:id="rId11"/>
    <p:sldId id="293" r:id="rId12"/>
    <p:sldId id="307" r:id="rId13"/>
    <p:sldId id="294" r:id="rId14"/>
    <p:sldId id="299" r:id="rId15"/>
    <p:sldId id="300" r:id="rId16"/>
    <p:sldId id="301" r:id="rId17"/>
    <p:sldId id="297" r:id="rId18"/>
    <p:sldId id="292" r:id="rId19"/>
    <p:sldId id="298" r:id="rId20"/>
    <p:sldId id="288" r:id="rId2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5" d="100"/>
          <a:sy n="85" d="100"/>
        </p:scale>
        <p:origin x="1027" y="53"/>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28/04/2026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28/04/2026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sv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noProof="0" dirty="0">
                <a:latin typeface="Lucida Sans"/>
                <a:cs typeface="Lucida Sans"/>
              </a:rPr>
              <a:t>Lab Book 2.0. </a:t>
            </a:r>
            <a:r>
              <a:rPr lang="es-ES" sz="3200" b="1" noProof="0" dirty="0" err="1">
                <a:latin typeface="Lucida Sans"/>
                <a:cs typeface="Lucida Sans"/>
              </a:rPr>
              <a:t>Couplers</a:t>
            </a:r>
            <a:endParaRPr lang="es-ES" sz="3200" noProof="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noProof="0" dirty="0">
                <a:latin typeface="Arial"/>
                <a:cs typeface="Arial"/>
              </a:rPr>
              <a:t>Student: </a:t>
            </a:r>
            <a:endParaRPr lang="es-ES" sz="1800" noProof="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lang="es-ES" noProof="0" dirty="0"/>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noProof="0" smtClean="0"/>
              <a:t>1</a:t>
            </a:fld>
            <a:endParaRPr lang="es-ES"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noProof="0" dirty="0" err="1">
                <a:latin typeface="+mj-lt"/>
                <a:cs typeface="Lucida Sans"/>
              </a:rPr>
              <a:t>Instructions</a:t>
            </a:r>
            <a:br>
              <a:rPr lang="es-ES" sz="2400" spc="-5" noProof="0" dirty="0">
                <a:latin typeface="+mj-lt"/>
                <a:cs typeface="Lucida Sans"/>
              </a:rPr>
            </a:br>
            <a:r>
              <a:rPr lang="es-ES" b="0" spc="-5" noProof="0" dirty="0">
                <a:latin typeface="+mj-lt"/>
                <a:cs typeface="Lucida Sans"/>
              </a:rPr>
              <a:t>General</a:t>
            </a:r>
            <a:endParaRPr lang="es-ES" sz="2400" b="0" noProof="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noProof="0" smtClean="0"/>
              <a:t>2</a:t>
            </a:fld>
            <a:endParaRPr lang="es-ES" noProof="0" dirty="0"/>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ES" sz="2000" b="1" kern="0" noProof="0" dirty="0">
                <a:solidFill>
                  <a:sysClr val="windowText" lastClr="000000"/>
                </a:solidFill>
                <a:sym typeface="Wingdings" pitchFamily="2" charset="2"/>
              </a:rPr>
              <a:t>SCRIPTS</a:t>
            </a:r>
          </a:p>
          <a:p>
            <a:pPr marL="342900" indent="-342900" algn="just">
              <a:buFont typeface="Arial" panose="020B0604020202020204" pitchFamily="34" charset="0"/>
              <a:buChar char="•"/>
            </a:pPr>
            <a:r>
              <a:rPr lang="es-ES" kern="0" noProof="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s-ES" kern="0" noProof="0" dirty="0">
                <a:solidFill>
                  <a:sysClr val="windowText" lastClr="000000"/>
                </a:solidFill>
                <a:sym typeface="Wingdings" pitchFamily="2" charset="2"/>
              </a:rPr>
              <a:t>Fork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https://github.com/cccanvas-upv/cifoin-lab2.git</a:t>
            </a:r>
          </a:p>
          <a:p>
            <a:pPr marL="800100" lvl="1" indent="-342900" algn="just">
              <a:buFont typeface="Arial" panose="020B0604020202020204" pitchFamily="34" charset="0"/>
              <a:buChar char="•"/>
            </a:pPr>
            <a:r>
              <a:rPr lang="es-ES" kern="0" noProof="0" dirty="0">
                <a:solidFill>
                  <a:sysClr val="windowText" lastClr="000000"/>
                </a:solidFill>
                <a:sym typeface="Wingdings" pitchFamily="2" charset="2"/>
              </a:rPr>
              <a:t>Clone </a:t>
            </a:r>
            <a:r>
              <a:rPr lang="es-ES" kern="0" noProof="0" dirty="0" err="1">
                <a:solidFill>
                  <a:sysClr val="windowText" lastClr="000000"/>
                </a:solidFill>
                <a:sym typeface="Wingdings" pitchFamily="2" charset="2"/>
              </a:rPr>
              <a:t>the</a:t>
            </a:r>
            <a:r>
              <a:rPr lang="es-ES" kern="0" noProof="0" dirty="0">
                <a:solidFill>
                  <a:sysClr val="windowText" lastClr="000000"/>
                </a:solidFill>
                <a:sym typeface="Wingdings" pitchFamily="2" charset="2"/>
              </a:rPr>
              <a:t> repo </a:t>
            </a:r>
            <a:r>
              <a:rPr lang="es-ES" kern="0" noProof="0" dirty="0" err="1">
                <a:solidFill>
                  <a:sysClr val="windowText" lastClr="000000"/>
                </a:solidFill>
                <a:sym typeface="Wingdings" pitchFamily="2" charset="2"/>
              </a:rPr>
              <a:t>using</a:t>
            </a:r>
            <a:r>
              <a:rPr lang="es-ES" kern="0" noProof="0" dirty="0">
                <a:solidFill>
                  <a:sysClr val="windowText" lastClr="000000"/>
                </a:solidFill>
                <a:sym typeface="Wingdings" pitchFamily="2" charset="2"/>
              </a:rPr>
              <a:t> </a:t>
            </a:r>
            <a:r>
              <a:rPr lang="es-ES" kern="0" noProof="0" dirty="0" err="1">
                <a:solidFill>
                  <a:sysClr val="windowText" lastClr="000000"/>
                </a:solidFill>
                <a:sym typeface="Wingdings" pitchFamily="2" charset="2"/>
              </a:rPr>
              <a:t>VSCode</a:t>
            </a:r>
            <a:endParaRPr lang="es-ES" kern="0" noProof="0" dirty="0">
              <a:solidFill>
                <a:sysClr val="windowText" lastClr="000000"/>
              </a:solidFill>
              <a:sym typeface="Wingdings" pitchFamily="2" charset="2"/>
            </a:endParaRPr>
          </a:p>
          <a:p>
            <a:pPr marL="342900" indent="-342900" algn="just">
              <a:buFont typeface="Arial" panose="020B0604020202020204" pitchFamily="34" charset="0"/>
              <a:buChar char="•"/>
            </a:pPr>
            <a:r>
              <a:rPr lang="es-ES" kern="0" noProof="0" dirty="0">
                <a:solidFill>
                  <a:sysClr val="windowText" lastClr="000000"/>
                </a:solidFill>
              </a:rPr>
              <a:t>Run </a:t>
            </a:r>
            <a:r>
              <a:rPr lang="es-ES" kern="0" noProof="0" dirty="0" err="1">
                <a:solidFill>
                  <a:sysClr val="windowText" lastClr="000000"/>
                </a:solidFill>
              </a:rPr>
              <a:t>the</a:t>
            </a:r>
            <a:r>
              <a:rPr lang="es-ES" kern="0" noProof="0" dirty="0">
                <a:solidFill>
                  <a:sysClr val="windowText" lastClr="000000"/>
                </a:solidFill>
              </a:rPr>
              <a:t> </a:t>
            </a:r>
            <a:r>
              <a:rPr lang="es-ES" kern="0" noProof="0" dirty="0" err="1">
                <a:solidFill>
                  <a:sysClr val="windowText" lastClr="000000"/>
                </a:solidFill>
              </a:rPr>
              <a:t>Jupyter</a:t>
            </a:r>
            <a:r>
              <a:rPr lang="es-ES" kern="0" noProof="0" dirty="0">
                <a:solidFill>
                  <a:sysClr val="windowText" lastClr="000000"/>
                </a:solidFill>
              </a:rPr>
              <a:t> Notebook: </a:t>
            </a:r>
          </a:p>
          <a:p>
            <a:pPr marL="800100" lvl="1" indent="-342900" algn="just">
              <a:buFont typeface="Arial" panose="020B0604020202020204" pitchFamily="34" charset="0"/>
              <a:buChar char="•"/>
            </a:pPr>
            <a:r>
              <a:rPr lang="es-ES" kern="0" noProof="0" dirty="0" err="1">
                <a:solidFill>
                  <a:sysClr val="windowText" lastClr="000000"/>
                </a:solidFill>
              </a:rPr>
              <a:t>COUPLERS_Student.ipynb</a:t>
            </a:r>
            <a:r>
              <a:rPr lang="es-ES" kern="0" noProof="0" dirty="0">
                <a:solidFill>
                  <a:sysClr val="windowText" lastClr="000000"/>
                </a:solidFill>
              </a:rPr>
              <a:t> </a:t>
            </a:r>
          </a:p>
          <a:p>
            <a:pPr algn="just"/>
            <a:endParaRPr lang="es-ES" b="1" i="1" noProof="0" dirty="0"/>
          </a:p>
          <a:p>
            <a:pPr algn="just"/>
            <a:r>
              <a:rPr lang="es-ES" b="1" i="1" noProof="0" dirty="0"/>
              <a:t>Cross-Sections </a:t>
            </a:r>
            <a:r>
              <a:rPr lang="es-ES" i="1" noProof="0" dirty="0" err="1"/>
              <a:t>to</a:t>
            </a:r>
            <a:r>
              <a:rPr lang="es-ES" i="1" noProof="0" dirty="0"/>
              <a:t> be </a:t>
            </a:r>
            <a:r>
              <a:rPr lang="es-ES" i="1" noProof="0" dirty="0" err="1"/>
              <a:t>studied</a:t>
            </a:r>
            <a:r>
              <a:rPr lang="es-ES" i="1" noProof="0" dirty="0"/>
              <a:t>:</a:t>
            </a:r>
            <a:endParaRPr lang="es-ES" b="1" i="1" noProof="0" dirty="0"/>
          </a:p>
          <a:p>
            <a:pPr algn="just"/>
            <a:endParaRPr lang="es-ES" sz="2000" b="1" i="1" noProof="0" dirty="0"/>
          </a:p>
          <a:p>
            <a:pPr algn="just"/>
            <a:endParaRPr lang="es-ES" sz="2000" kern="0" noProof="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noProof="0" dirty="0">
                <a:latin typeface="Calibri"/>
                <a:cs typeface="Calibri"/>
              </a:rPr>
              <a:t>h</a:t>
            </a:r>
          </a:p>
          <a:p>
            <a:pPr marR="5080" algn="ctr">
              <a:lnSpc>
                <a:spcPct val="100000"/>
              </a:lnSpc>
              <a:spcBef>
                <a:spcPts val="5"/>
              </a:spcBef>
            </a:pPr>
            <a:r>
              <a:rPr lang="es-ES" sz="1400" spc="-10" noProof="0" dirty="0">
                <a:latin typeface="Calibri"/>
                <a:cs typeface="Calibri"/>
              </a:rPr>
              <a:t>(</a:t>
            </a:r>
            <a:r>
              <a:rPr lang="es-ES" sz="1400" spc="-10" noProof="0" dirty="0" err="1">
                <a:latin typeface="Calibri"/>
                <a:cs typeface="Calibri"/>
              </a:rPr>
              <a:t>h</a:t>
            </a:r>
            <a:r>
              <a:rPr lang="es-ES" sz="1400" noProof="0" dirty="0" err="1">
                <a:latin typeface="Calibri"/>
                <a:cs typeface="Calibri"/>
              </a:rPr>
              <a:t>eig</a:t>
            </a:r>
            <a:r>
              <a:rPr lang="es-ES" sz="1400" spc="-25" noProof="0" dirty="0" err="1">
                <a:latin typeface="Calibri"/>
                <a:cs typeface="Calibri"/>
              </a:rPr>
              <a:t>h</a:t>
            </a:r>
            <a:r>
              <a:rPr lang="es-ES" sz="1400" spc="-5" noProof="0" dirty="0" err="1">
                <a:latin typeface="Calibri"/>
                <a:cs typeface="Calibri"/>
              </a:rPr>
              <a:t>t</a:t>
            </a:r>
            <a:r>
              <a:rPr lang="es-ES" sz="1400" noProof="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dirty="0"/>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noProof="0" dirty="0">
                <a:latin typeface="Calibri"/>
                <a:cs typeface="Calibri"/>
              </a:rPr>
              <a:t>w</a:t>
            </a:r>
            <a:r>
              <a:rPr lang="es-ES" sz="1400" spc="-65" noProof="0" dirty="0">
                <a:latin typeface="Calibri"/>
                <a:cs typeface="Calibri"/>
              </a:rPr>
              <a:t> </a:t>
            </a:r>
            <a:r>
              <a:rPr lang="es-ES" sz="1400" spc="-5" noProof="0" dirty="0">
                <a:latin typeface="Calibri"/>
                <a:cs typeface="Calibri"/>
              </a:rPr>
              <a:t>(</a:t>
            </a:r>
            <a:r>
              <a:rPr lang="es-ES" sz="1400" spc="-5" noProof="0" dirty="0" err="1">
                <a:latin typeface="Calibri"/>
                <a:cs typeface="Calibri"/>
              </a:rPr>
              <a:t>width</a:t>
            </a:r>
            <a:r>
              <a:rPr lang="es-ES" sz="1400" spc="-5" noProof="0" dirty="0">
                <a:latin typeface="Calibri"/>
                <a:cs typeface="Calibri"/>
              </a:rPr>
              <a:t>)</a:t>
            </a:r>
            <a:endParaRPr lang="es-ES" sz="1400" noProof="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gn="ctr">
              <a:lnSpc>
                <a:spcPct val="100000"/>
              </a:lnSpc>
            </a:pPr>
            <a:r>
              <a:rPr lang="es-ES" sz="1600" b="1" spc="-10" noProof="0" dirty="0">
                <a:latin typeface="Calibri"/>
                <a:cs typeface="Calibri"/>
              </a:rPr>
              <a:t>Core</a:t>
            </a:r>
            <a:endParaRPr lang="es-ES" sz="1600" noProof="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lang="es-ES" sz="1600" b="1" spc="-10" noProof="0" dirty="0" err="1">
                <a:latin typeface="Calibri"/>
                <a:cs typeface="Calibri"/>
              </a:rPr>
              <a:t>Cladding</a:t>
            </a:r>
            <a:endParaRPr lang="es-ES" sz="1600" noProof="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dirty="0"/>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noProof="0" dirty="0">
                <a:latin typeface="Calibri"/>
                <a:cs typeface="Calibri"/>
              </a:rPr>
              <a:t>w</a:t>
            </a:r>
            <a:r>
              <a:rPr lang="es-ES" sz="1400" spc="-65" noProof="0" dirty="0">
                <a:latin typeface="Calibri"/>
                <a:cs typeface="Calibri"/>
              </a:rPr>
              <a:t> </a:t>
            </a:r>
            <a:r>
              <a:rPr lang="es-ES" sz="1400" spc="-5" noProof="0" dirty="0">
                <a:latin typeface="Calibri"/>
                <a:cs typeface="Calibri"/>
              </a:rPr>
              <a:t>(</a:t>
            </a:r>
            <a:r>
              <a:rPr lang="es-ES" sz="1400" spc="-5" noProof="0" dirty="0" err="1">
                <a:latin typeface="Calibri"/>
                <a:cs typeface="Calibri"/>
              </a:rPr>
              <a:t>width</a:t>
            </a:r>
            <a:r>
              <a:rPr lang="es-ES" sz="1400" spc="-5" noProof="0" dirty="0">
                <a:latin typeface="Calibri"/>
                <a:cs typeface="Calibri"/>
              </a:rPr>
              <a:t>)</a:t>
            </a:r>
            <a:endParaRPr lang="es-ES" sz="1400" noProof="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gn="ctr">
              <a:lnSpc>
                <a:spcPct val="100000"/>
              </a:lnSpc>
            </a:pPr>
            <a:r>
              <a:rPr lang="es-ES" sz="1600" b="1" spc="-10" noProof="0" dirty="0">
                <a:latin typeface="Calibri"/>
                <a:cs typeface="Calibri"/>
              </a:rPr>
              <a:t>MMI Body</a:t>
            </a:r>
            <a:endParaRPr lang="es-ES" sz="1600" noProof="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lang="es-ES" sz="1600" b="1" spc="-10" noProof="0" dirty="0" err="1">
                <a:latin typeface="Calibri"/>
                <a:cs typeface="Calibri"/>
              </a:rPr>
              <a:t>Cladding</a:t>
            </a:r>
            <a:endParaRPr lang="es-ES" sz="1600" noProof="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s-ES" b="1" noProof="0" dirty="0" err="1"/>
              <a:t>Multimode</a:t>
            </a:r>
            <a:r>
              <a:rPr lang="es-ES" b="1" noProof="0" dirty="0"/>
              <a:t> </a:t>
            </a:r>
            <a:r>
              <a:rPr lang="es-ES" b="1" noProof="0" dirty="0" err="1"/>
              <a:t>Interference</a:t>
            </a:r>
            <a:r>
              <a:rPr lang="es-ES" b="1" noProof="0" dirty="0"/>
              <a:t> (MMI) </a:t>
            </a:r>
            <a:r>
              <a:rPr lang="es-ES" noProof="0" dirty="0" err="1"/>
              <a:t>coupler</a:t>
            </a:r>
            <a:r>
              <a:rPr lang="es-ES" b="1" noProof="0" dirty="0"/>
              <a:t> </a:t>
            </a:r>
            <a:endParaRPr lang="es-ES" noProof="0"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s-ES" b="1" noProof="0" dirty="0" err="1"/>
              <a:t>Directional</a:t>
            </a:r>
            <a:r>
              <a:rPr lang="es-ES" b="1" noProof="0" dirty="0"/>
              <a:t> </a:t>
            </a:r>
            <a:r>
              <a:rPr lang="es-ES" noProof="0" dirty="0" err="1"/>
              <a:t>coupler</a:t>
            </a:r>
            <a:r>
              <a:rPr lang="es-ES" noProof="0" dirty="0"/>
              <a:t>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dirty="0">
              <a:latin typeface="Times New Roman"/>
              <a:cs typeface="Times New Roman"/>
            </a:endParaRPr>
          </a:p>
          <a:p>
            <a:pPr marL="18415" algn="ctr">
              <a:lnSpc>
                <a:spcPct val="100000"/>
              </a:lnSpc>
            </a:pPr>
            <a:r>
              <a:rPr lang="es-ES" sz="1600" b="1" spc="-10" noProof="0" dirty="0">
                <a:latin typeface="Calibri"/>
                <a:cs typeface="Calibri"/>
              </a:rPr>
              <a:t>Core</a:t>
            </a:r>
            <a:endParaRPr lang="es-ES" sz="1600" noProof="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dirty="0"/>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noProof="0" dirty="0">
                <a:latin typeface="Calibri"/>
                <a:cs typeface="Calibri"/>
              </a:rPr>
              <a:t>g</a:t>
            </a:r>
          </a:p>
          <a:p>
            <a:pPr marR="5080" algn="ctr">
              <a:lnSpc>
                <a:spcPct val="100000"/>
              </a:lnSpc>
              <a:spcBef>
                <a:spcPts val="5"/>
              </a:spcBef>
            </a:pPr>
            <a:r>
              <a:rPr lang="es-ES" sz="1400" spc="-10" noProof="0" dirty="0">
                <a:latin typeface="Calibri"/>
                <a:cs typeface="Calibri"/>
              </a:rPr>
              <a:t>(gap</a:t>
            </a:r>
            <a:r>
              <a:rPr lang="es-ES" sz="1400" noProof="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dirty="0"/>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noProof="0" dirty="0">
                <a:latin typeface="Calibri"/>
                <a:cs typeface="Calibri"/>
              </a:rPr>
              <a:t>h</a:t>
            </a:r>
          </a:p>
          <a:p>
            <a:pPr marR="5080" algn="ctr">
              <a:lnSpc>
                <a:spcPct val="100000"/>
              </a:lnSpc>
              <a:spcBef>
                <a:spcPts val="5"/>
              </a:spcBef>
            </a:pPr>
            <a:r>
              <a:rPr lang="es-ES" sz="1400" spc="-10" noProof="0" dirty="0">
                <a:latin typeface="Calibri"/>
                <a:cs typeface="Calibri"/>
              </a:rPr>
              <a:t>(</a:t>
            </a:r>
            <a:r>
              <a:rPr lang="es-ES" sz="1400" spc="-10" noProof="0" dirty="0" err="1">
                <a:latin typeface="Calibri"/>
                <a:cs typeface="Calibri"/>
              </a:rPr>
              <a:t>h</a:t>
            </a:r>
            <a:r>
              <a:rPr lang="es-ES" sz="1400" noProof="0" dirty="0" err="1">
                <a:latin typeface="Calibri"/>
                <a:cs typeface="Calibri"/>
              </a:rPr>
              <a:t>eig</a:t>
            </a:r>
            <a:r>
              <a:rPr lang="es-ES" sz="1400" spc="-25" noProof="0" dirty="0" err="1">
                <a:latin typeface="Calibri"/>
                <a:cs typeface="Calibri"/>
              </a:rPr>
              <a:t>h</a:t>
            </a:r>
            <a:r>
              <a:rPr lang="es-ES" sz="1400" spc="-5" noProof="0" dirty="0" err="1">
                <a:latin typeface="Calibri"/>
                <a:cs typeface="Calibri"/>
              </a:rPr>
              <a:t>t</a:t>
            </a:r>
            <a:r>
              <a:rPr lang="es-ES" sz="1400" noProof="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noProof="0" smtClean="0"/>
              <a:t>3</a:t>
            </a:fld>
            <a:endParaRPr lang="es-ES" noProof="0" dirty="0"/>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s-ES" sz="2800" b="1" noProof="0" dirty="0" err="1">
                <a:effectLst>
                  <a:outerShdw blurRad="38100" dist="38100" dir="2700000" algn="tl">
                    <a:srgbClr val="000000">
                      <a:alpha val="43137"/>
                    </a:srgbClr>
                  </a:outerShdw>
                </a:effectLst>
              </a:rPr>
              <a:t>Directional</a:t>
            </a:r>
            <a:r>
              <a:rPr lang="es-ES" sz="2800" b="1" noProof="0" dirty="0">
                <a:effectLst>
                  <a:outerShdw blurRad="38100" dist="38100" dir="2700000" algn="tl">
                    <a:srgbClr val="000000">
                      <a:alpha val="43137"/>
                    </a:srgbClr>
                  </a:outerShdw>
                </a:effectLst>
              </a:rPr>
              <a:t> </a:t>
            </a:r>
            <a:r>
              <a:rPr lang="es-ES" sz="2800" b="1" noProof="0" dirty="0" err="1">
                <a:effectLst>
                  <a:outerShdw blurRad="38100" dist="38100" dir="2700000" algn="tl">
                    <a:srgbClr val="000000">
                      <a:alpha val="43137"/>
                    </a:srgbClr>
                  </a:outerShdw>
                </a:effectLst>
              </a:rPr>
              <a:t>coupler</a:t>
            </a:r>
            <a:endParaRPr lang="es-ES" sz="2800" b="1" noProof="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#1 – </a:t>
            </a:r>
            <a:r>
              <a:rPr lang="es-ES" sz="2500" noProof="0" dirty="0" err="1"/>
              <a:t>Directional</a:t>
            </a:r>
            <a:r>
              <a:rPr lang="es-ES" sz="2500" noProof="0" dirty="0"/>
              <a:t> </a:t>
            </a:r>
            <a:r>
              <a:rPr lang="es-ES" sz="2500" noProof="0" dirty="0" err="1"/>
              <a:t>coupler</a:t>
            </a:r>
            <a:r>
              <a:rPr lang="es-ES" sz="2500" noProof="0" dirty="0"/>
              <a:t> </a:t>
            </a:r>
            <a:r>
              <a:rPr lang="es-ES" sz="2500" noProof="0" dirty="0" err="1"/>
              <a:t>cross-section</a:t>
            </a:r>
            <a:r>
              <a:rPr lang="es-ES" sz="2500" noProof="0" dirty="0"/>
              <a:t> in </a:t>
            </a:r>
            <a:r>
              <a:rPr lang="es-ES" sz="2500" noProof="0" dirty="0" err="1"/>
              <a:t>GDSFactory</a:t>
            </a:r>
            <a:br>
              <a:rPr lang="es-ES" sz="2500" spc="-5" noProof="0" dirty="0">
                <a:latin typeface="+mj-lt"/>
                <a:cs typeface="Lucida Sans"/>
              </a:rPr>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noProof="0" smtClean="0"/>
              <a:t>4</a:t>
            </a:fld>
            <a:endParaRPr lang="es-ES" noProof="0" dirty="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noProof="0" dirty="0"/>
              <a:t>LAB 2.0. COUPLERS</a:t>
            </a:r>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sz="2000" b="1" noProof="0" dirty="0"/>
                  <a:t>INSTRUCTOR:</a:t>
                </a:r>
              </a:p>
              <a:p>
                <a:pPr marL="342900" indent="-342900" algn="just">
                  <a:buFont typeface="Arial" panose="020B0604020202020204" pitchFamily="34" charset="0"/>
                  <a:buChar char="•"/>
                </a:pPr>
                <a:r>
                  <a:rPr lang="es-ES" sz="2000" noProof="0" dirty="0"/>
                  <a:t>Present Python and </a:t>
                </a:r>
                <a:r>
                  <a:rPr lang="es-ES" sz="2000" noProof="0" dirty="0" err="1"/>
                  <a:t>GDSFactory</a:t>
                </a:r>
                <a:r>
                  <a:rPr lang="es-ES" sz="2000" noProof="0" dirty="0"/>
                  <a:t> </a:t>
                </a:r>
                <a:r>
                  <a:rPr lang="es-ES" sz="2000" noProof="0" dirty="0" err="1"/>
                  <a:t>implementation</a:t>
                </a:r>
                <a:r>
                  <a:rPr lang="es-ES" sz="2000" noProof="0" dirty="0"/>
                  <a:t> </a:t>
                </a:r>
                <a:r>
                  <a:rPr lang="es-ES" sz="2000" noProof="0" dirty="0" err="1"/>
                  <a:t>of</a:t>
                </a:r>
                <a:r>
                  <a:rPr lang="es-ES" sz="2000" noProof="0" dirty="0"/>
                  <a:t> DC </a:t>
                </a:r>
                <a:r>
                  <a:rPr lang="es-ES" sz="2000" noProof="0" dirty="0" err="1"/>
                  <a:t>cross-section</a:t>
                </a:r>
                <a:endParaRPr lang="es-ES" sz="2000" noProof="0" dirty="0"/>
              </a:p>
              <a:p>
                <a:pPr marL="342900" indent="-342900" algn="just">
                  <a:buFont typeface="Arial" panose="020B0604020202020204" pitchFamily="34" charset="0"/>
                  <a:buChar char="•"/>
                </a:pPr>
                <a:r>
                  <a:rPr lang="es-ES" sz="2000" noProof="0" dirty="0"/>
                  <a:t>Describe </a:t>
                </a:r>
                <a:r>
                  <a:rPr lang="es-ES" sz="2000" noProof="0" dirty="0" err="1"/>
                  <a:t>how</a:t>
                </a:r>
                <a:r>
                  <a:rPr lang="es-ES" sz="2000" noProof="0" dirty="0"/>
                  <a:t> </a:t>
                </a:r>
                <a:r>
                  <a:rPr lang="es-ES" sz="2000" noProof="0" dirty="0" err="1"/>
                  <a:t>to</a:t>
                </a:r>
                <a:r>
                  <a:rPr lang="es-ES" sz="2000" noProof="0" dirty="0"/>
                  <a:t> </a:t>
                </a:r>
                <a:r>
                  <a:rPr lang="es-ES" sz="2000" noProof="0" dirty="0" err="1"/>
                  <a:t>obtain</a:t>
                </a:r>
                <a:r>
                  <a:rPr lang="es-ES" sz="2000" noProof="0" dirty="0"/>
                  <a:t> </a:t>
                </a:r>
                <a:r>
                  <a:rPr lang="es-ES" sz="2000" noProof="0" dirty="0" err="1"/>
                  <a:t>the</a:t>
                </a:r>
                <a:r>
                  <a:rPr lang="es-ES" sz="2000" noProof="0" dirty="0"/>
                  <a:t> </a:t>
                </a:r>
                <a:r>
                  <a:rPr lang="es-ES" sz="2000" noProof="0" dirty="0" err="1"/>
                  <a:t>beating</a:t>
                </a:r>
                <a:r>
                  <a:rPr lang="es-ES" sz="2000" noProof="0" dirty="0"/>
                  <a:t> </a:t>
                </a:r>
                <a:r>
                  <a:rPr lang="es-ES" sz="2000" noProof="0" dirty="0" err="1"/>
                  <a:t>length</a:t>
                </a:r>
                <a:r>
                  <a:rPr lang="es-ES" sz="2000" noProof="0" dirty="0"/>
                  <a:t> </a:t>
                </a:r>
                <a14:m>
                  <m:oMath xmlns:m="http://schemas.openxmlformats.org/officeDocument/2006/math">
                    <m:sSub>
                      <m:sSubPr>
                        <m:ctrlPr>
                          <a:rPr lang="es-ES" sz="2000" b="0" i="1" noProof="0" smtClean="0">
                            <a:latin typeface="Cambria Math" panose="02040503050406030204" pitchFamily="18" charset="0"/>
                          </a:rPr>
                        </m:ctrlPr>
                      </m:sSubPr>
                      <m:e>
                        <m:r>
                          <a:rPr lang="es-ES" sz="2000" b="0" i="1" noProof="0" smtClean="0">
                            <a:latin typeface="Cambria Math" panose="02040503050406030204" pitchFamily="18" charset="0"/>
                          </a:rPr>
                          <m:t>𝐿</m:t>
                        </m:r>
                      </m:e>
                      <m:sub>
                        <m:r>
                          <a:rPr lang="es-ES" sz="2000" b="0" i="1" noProof="0" smtClean="0">
                            <a:latin typeface="Cambria Math" panose="02040503050406030204" pitchFamily="18" charset="0"/>
                          </a:rPr>
                          <m:t>𝜋</m:t>
                        </m:r>
                      </m:sub>
                    </m:sSub>
                  </m:oMath>
                </a14:m>
                <a:endParaRPr lang="es-ES" sz="2000" noProof="0" dirty="0"/>
              </a:p>
              <a:p>
                <a:pPr marL="342900" indent="-342900" algn="just">
                  <a:buFont typeface="Arial" panose="020B0604020202020204" pitchFamily="34" charset="0"/>
                  <a:buChar char="•"/>
                </a:pPr>
                <a:r>
                  <a:rPr lang="es-ES" sz="2000" noProof="0" dirty="0"/>
                  <a:t>Describe </a:t>
                </a:r>
                <a:r>
                  <a:rPr lang="es-ES" sz="2000" noProof="0" dirty="0" err="1"/>
                  <a:t>the</a:t>
                </a:r>
                <a:r>
                  <a:rPr lang="es-ES" sz="2000" noProof="0" dirty="0"/>
                  <a:t> outputs.</a:t>
                </a:r>
              </a:p>
              <a:p>
                <a:pPr marL="0" indent="0" algn="just">
                  <a:buNone/>
                </a:pPr>
                <a:r>
                  <a:rPr lang="es-ES" sz="2000" b="1" noProof="0" dirty="0"/>
                  <a:t>ALL EXAMPLE #1: </a:t>
                </a:r>
                <a:r>
                  <a:rPr lang="es-ES" sz="2000" noProof="0" dirty="0" err="1"/>
                  <a:t>waveguide</a:t>
                </a:r>
                <a:r>
                  <a:rPr lang="es-ES" sz="2000" noProof="0" dirty="0"/>
                  <a:t> </a:t>
                </a:r>
                <a:r>
                  <a:rPr lang="es-ES" sz="2000" noProof="0" dirty="0" err="1"/>
                  <a:t>width</a:t>
                </a:r>
                <a:r>
                  <a:rPr lang="es-ES" sz="2000" noProof="0" dirty="0"/>
                  <a:t> 1.2 µm, gap </a:t>
                </a:r>
                <a:r>
                  <a:rPr lang="es-ES" sz="2000" noProof="0" dirty="0" err="1"/>
                  <a:t>between</a:t>
                </a:r>
                <a:r>
                  <a:rPr lang="es-ES" sz="2000" noProof="0" dirty="0"/>
                  <a:t> </a:t>
                </a:r>
                <a:r>
                  <a:rPr lang="es-ES" sz="2000" noProof="0" dirty="0" err="1"/>
                  <a:t>waveguides</a:t>
                </a:r>
                <a:r>
                  <a:rPr lang="es-ES" sz="2000" noProof="0" dirty="0"/>
                  <a:t> 0.6 µm, </a:t>
                </a:r>
                <a:r>
                  <a:rPr lang="es-ES" sz="2000" noProof="0" dirty="0" err="1"/>
                  <a:t>deep</a:t>
                </a:r>
                <a:r>
                  <a:rPr lang="es-ES" sz="2000" noProof="0" dirty="0"/>
                  <a:t> </a:t>
                </a:r>
                <a:r>
                  <a:rPr lang="es-ES" sz="2000" noProof="0" dirty="0" err="1"/>
                  <a:t>wvg</a:t>
                </a:r>
                <a:r>
                  <a:rPr lang="es-ES" sz="2000" noProof="0" dirty="0"/>
                  <a:t>, </a:t>
                </a:r>
                <a:r>
                  <a:rPr lang="es-ES" sz="2000" noProof="0" dirty="0" err="1"/>
                  <a:t>wavelength</a:t>
                </a:r>
                <a:r>
                  <a:rPr lang="es-ES" sz="2000" noProof="0" dirty="0"/>
                  <a:t> </a:t>
                </a:r>
                <a:r>
                  <a:rPr lang="es-ES" sz="2000" noProof="0" dirty="0" err="1"/>
                  <a:t>start</a:t>
                </a:r>
                <a:r>
                  <a:rPr lang="es-ES" sz="2000" noProof="0" dirty="0"/>
                  <a:t> and </a:t>
                </a:r>
                <a:r>
                  <a:rPr lang="es-ES" sz="2000" noProof="0" dirty="0" err="1"/>
                  <a:t>end</a:t>
                </a:r>
                <a:r>
                  <a:rPr lang="es-ES" sz="2000" noProof="0" dirty="0"/>
                  <a:t> </a:t>
                </a:r>
                <a:r>
                  <a:rPr lang="es-ES" sz="2000" noProof="0" dirty="0" err="1"/>
                  <a:t>same</a:t>
                </a:r>
                <a:r>
                  <a:rPr lang="es-ES" sz="2000" noProof="0" dirty="0"/>
                  <a:t> 1.55 µm </a:t>
                </a:r>
                <a:r>
                  <a:rPr lang="es-ES" sz="2000" noProof="0" dirty="0">
                    <a:sym typeface="Wingdings" pitchFamily="2" charset="2"/>
                  </a:rPr>
                  <a:t> </a:t>
                </a:r>
                <a:r>
                  <a:rPr lang="es-ES" sz="2000" noProof="0" dirty="0" err="1">
                    <a:sym typeface="Wingdings" pitchFamily="2" charset="2"/>
                  </a:rPr>
                  <a:t>all</a:t>
                </a:r>
                <a:r>
                  <a:rPr lang="es-ES" sz="2000" noProof="0" dirty="0">
                    <a:sym typeface="Wingdings" pitchFamily="2" charset="2"/>
                  </a:rPr>
                  <a:t> ”Run”</a:t>
                </a:r>
                <a:endParaRPr lang="es-ES" sz="2000" noProof="0" dirty="0"/>
              </a:p>
              <a:p>
                <a:pPr marL="0" indent="0" algn="just">
                  <a:buNone/>
                </a:pPr>
                <a:r>
                  <a:rPr lang="es-ES" sz="2000" b="1" noProof="0" dirty="0"/>
                  <a:t>ALL: </a:t>
                </a:r>
                <a:r>
                  <a:rPr lang="es-ES" sz="2000" noProof="0" dirty="0" err="1"/>
                  <a:t>Follow</a:t>
                </a:r>
                <a:r>
                  <a:rPr lang="es-ES" sz="2000" b="1" noProof="0" dirty="0"/>
                  <a:t> </a:t>
                </a:r>
                <a:r>
                  <a:rPr lang="es-ES" sz="2000" noProof="0" dirty="0"/>
                  <a:t>instructor, </a:t>
                </a:r>
                <a:r>
                  <a:rPr lang="es-ES" sz="2000" noProof="0" dirty="0" err="1"/>
                  <a:t>that</a:t>
                </a:r>
                <a:r>
                  <a:rPr lang="es-ES" sz="2000" noProof="0" dirty="0"/>
                  <a:t> </a:t>
                </a:r>
                <a:r>
                  <a:rPr lang="es-ES" sz="2000" noProof="0" dirty="0" err="1"/>
                  <a:t>will</a:t>
                </a:r>
                <a:r>
                  <a:rPr lang="es-ES" sz="2000" noProof="0" dirty="0"/>
                  <a:t> show </a:t>
                </a:r>
                <a:r>
                  <a:rPr lang="es-ES" sz="2000" noProof="0" dirty="0" err="1"/>
                  <a:t>how</a:t>
                </a:r>
                <a:r>
                  <a:rPr lang="es-ES" sz="2000" noProof="0" dirty="0"/>
                  <a:t> </a:t>
                </a:r>
                <a:r>
                  <a:rPr lang="es-ES" sz="2000" noProof="0" dirty="0" err="1"/>
                  <a:t>to</a:t>
                </a:r>
                <a:r>
                  <a:rPr lang="es-ES" sz="2000" noProof="0" dirty="0"/>
                  <a:t> 1) </a:t>
                </a:r>
                <a:r>
                  <a:rPr lang="es-ES" sz="2000" noProof="0" dirty="0" err="1"/>
                  <a:t>plot</a:t>
                </a:r>
                <a:r>
                  <a:rPr lang="es-ES" sz="2000" noProof="0" dirty="0"/>
                  <a:t> </a:t>
                </a:r>
                <a:r>
                  <a:rPr lang="es-ES" sz="2000" noProof="0" dirty="0" err="1"/>
                  <a:t>mode</a:t>
                </a:r>
                <a:r>
                  <a:rPr lang="es-ES" sz="2000" noProof="0" dirty="0"/>
                  <a:t>, 2) explore </a:t>
                </a:r>
                <a:r>
                  <a:rPr lang="es-ES" sz="2000" noProof="0" dirty="0" err="1"/>
                  <a:t>the</a:t>
                </a:r>
                <a:r>
                  <a:rPr lang="es-ES" sz="2000" noProof="0" dirty="0"/>
                  <a:t> </a:t>
                </a:r>
                <a:r>
                  <a:rPr lang="es-ES" sz="2000" noProof="0" dirty="0" err="1"/>
                  <a:t>results</a:t>
                </a:r>
                <a:r>
                  <a:rPr lang="es-ES" sz="2000" noProof="0" dirty="0"/>
                  <a:t> (</a:t>
                </a:r>
                <a:r>
                  <a:rPr lang="es-ES" sz="2000" noProof="0" dirty="0" err="1"/>
                  <a:t>neff</a:t>
                </a:r>
                <a:r>
                  <a:rPr lang="es-ES" sz="2000" noProof="0" dirty="0"/>
                  <a:t> …)</a:t>
                </a:r>
              </a:p>
              <a:p>
                <a:pPr algn="just"/>
                <a:endParaRPr lang="es-ES" sz="2000" b="1" i="1" noProof="0" dirty="0"/>
              </a:p>
              <a:p>
                <a:pPr algn="just"/>
                <a:endParaRPr lang="es-ES" sz="2000" kern="0" noProof="0" dirty="0">
                  <a:solidFill>
                    <a:sysClr val="windowText" lastClr="000000"/>
                  </a:solidFill>
                </a:endParaRPr>
              </a:p>
            </p:txBody>
          </p:sp>
        </mc:Choice>
        <mc:Fallback>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85800" y="3657600"/>
            <a:ext cx="11199971" cy="738664"/>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Para conseguir </a:t>
            </a:r>
            <a:r>
              <a:rPr lang="es-ES" sz="1200" noProof="0" dirty="0" err="1">
                <a:latin typeface="Arial" panose="020B0604020202020204" pitchFamily="34" charset="0"/>
                <a:cs typeface="Arial" panose="020B0604020202020204" pitchFamily="34" charset="0"/>
              </a:rPr>
              <a:t>L_pi</a:t>
            </a:r>
            <a:r>
              <a:rPr lang="es-ES" sz="1200" noProof="0" dirty="0">
                <a:latin typeface="Arial" panose="020B0604020202020204" pitchFamily="34" charset="0"/>
                <a:cs typeface="Arial" panose="020B0604020202020204" pitchFamily="34" charset="0"/>
              </a:rPr>
              <a:t> se utiliza la siguiente ecuación: </a:t>
            </a:r>
            <a:r>
              <a:rPr lang="es-ES" noProof="0" dirty="0" err="1"/>
              <a:t>L_pi_TE</a:t>
            </a:r>
            <a:r>
              <a:rPr lang="es-ES" noProof="0" dirty="0"/>
              <a:t> = 0.5*</a:t>
            </a:r>
            <a:r>
              <a:rPr lang="es-ES" noProof="0" dirty="0" err="1"/>
              <a:t>lambda_c</a:t>
            </a:r>
            <a:r>
              <a:rPr lang="es-ES" noProof="0" dirty="0"/>
              <a:t>/(</a:t>
            </a:r>
            <a:r>
              <a:rPr lang="es-ES" noProof="0" dirty="0" err="1"/>
              <a:t>dcoupler_neff</a:t>
            </a:r>
            <a:r>
              <a:rPr lang="es-ES" noProof="0" dirty="0"/>
              <a:t>[0].real-</a:t>
            </a:r>
            <a:r>
              <a:rPr lang="es-ES" noProof="0" dirty="0" err="1"/>
              <a:t>dcoupler_neff</a:t>
            </a:r>
            <a:r>
              <a:rPr lang="es-ES" noProof="0" dirty="0"/>
              <a:t>[1].real)</a:t>
            </a:r>
          </a:p>
          <a:p>
            <a:pPr algn="just"/>
            <a:r>
              <a:rPr lang="es-ES" sz="1200" noProof="0" dirty="0">
                <a:latin typeface="Arial" panose="020B0604020202020204" pitchFamily="34" charset="0"/>
                <a:cs typeface="Arial" panose="020B0604020202020204" pitchFamily="34" charset="0"/>
              </a:rPr>
              <a:t>Donde </a:t>
            </a:r>
            <a:r>
              <a:rPr lang="es-ES" sz="1200" noProof="0" dirty="0" err="1">
                <a:latin typeface="Arial" panose="020B0604020202020204" pitchFamily="34" charset="0"/>
                <a:cs typeface="Arial" panose="020B0604020202020204" pitchFamily="34" charset="0"/>
              </a:rPr>
              <a:t>dcoupler_neff</a:t>
            </a:r>
            <a:r>
              <a:rPr lang="es-ES" sz="1200" noProof="0" dirty="0">
                <a:latin typeface="Arial" panose="020B0604020202020204" pitchFamily="34" charset="0"/>
                <a:cs typeface="Arial" panose="020B0604020202020204" pitchFamily="34" charset="0"/>
              </a:rPr>
              <a:t> son los índices efectivos del modo TE que previamente se han calculado y descrito como </a:t>
            </a:r>
            <a:r>
              <a:rPr lang="es-ES" sz="1200" noProof="0" dirty="0" err="1">
                <a:latin typeface="Arial" panose="020B0604020202020204" pitchFamily="34" charset="0"/>
                <a:cs typeface="Arial" panose="020B0604020202020204" pitchFamily="34" charset="0"/>
              </a:rPr>
              <a:t>ertenecientes</a:t>
            </a:r>
            <a:r>
              <a:rPr lang="es-ES" sz="1200" noProof="0" dirty="0">
                <a:latin typeface="Arial" panose="020B0604020202020204" pitchFamily="34" charset="0"/>
                <a:cs typeface="Arial" panose="020B0604020202020204" pitchFamily="34" charset="0"/>
              </a:rPr>
              <a:t> a modos TE. Si queremos obtener para el modo TM solamente debemos de </a:t>
            </a:r>
            <a:r>
              <a:rPr lang="es-ES" sz="1200" noProof="0" dirty="0" err="1">
                <a:latin typeface="Arial" panose="020B0604020202020204" pitchFamily="34" charset="0"/>
                <a:cs typeface="Arial" panose="020B0604020202020204" pitchFamily="34" charset="0"/>
              </a:rPr>
              <a:t>utilizer</a:t>
            </a:r>
            <a:r>
              <a:rPr lang="es-ES" sz="1200" noProof="0" dirty="0">
                <a:latin typeface="Arial" panose="020B0604020202020204" pitchFamily="34" charset="0"/>
                <a:cs typeface="Arial" panose="020B0604020202020204" pitchFamily="34" charset="0"/>
              </a:rPr>
              <a:t> los coeficientes efectivos de este modo.</a:t>
            </a: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BAE7812-D6B9-BBB5-DD44-2538C1AFEF99}"/>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5" name="Slide Number Placeholder 4">
            <a:extLst>
              <a:ext uri="{FF2B5EF4-FFF2-40B4-BE49-F238E27FC236}">
                <a16:creationId xmlns:a16="http://schemas.microsoft.com/office/drawing/2014/main" id="{835CBBCB-68F1-999C-96DD-4B9A84485B91}"/>
              </a:ext>
            </a:extLst>
          </p:cNvPr>
          <p:cNvSpPr>
            <a:spLocks noGrp="1"/>
          </p:cNvSpPr>
          <p:nvPr>
            <p:ph type="sldNum" sz="quarter" idx="7"/>
          </p:nvPr>
        </p:nvSpPr>
        <p:spPr/>
        <p:txBody>
          <a:bodyPr/>
          <a:lstStyle/>
          <a:p>
            <a:fld id="{B6F15528-21DE-4FAA-801E-634DDDAF4B2B}" type="slidenum">
              <a:rPr lang="es-ES" noProof="0" smtClean="0"/>
              <a:t>5</a:t>
            </a:fld>
            <a:endParaRPr lang="es-ES" noProof="0" dirty="0"/>
          </a:p>
        </p:txBody>
      </p:sp>
      <p:sp>
        <p:nvSpPr>
          <p:cNvPr id="6" name="object 16">
            <a:extLst>
              <a:ext uri="{FF2B5EF4-FFF2-40B4-BE49-F238E27FC236}">
                <a16:creationId xmlns:a16="http://schemas.microsoft.com/office/drawing/2014/main" id="{1A4063A2-3906-17A2-24DE-613000A90C2B}"/>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#1 – </a:t>
            </a:r>
            <a:r>
              <a:rPr lang="es-ES" sz="2500" noProof="0" dirty="0" err="1"/>
              <a:t>Directional</a:t>
            </a:r>
            <a:r>
              <a:rPr lang="es-ES" sz="2500" noProof="0" dirty="0"/>
              <a:t> </a:t>
            </a:r>
            <a:r>
              <a:rPr lang="es-ES" sz="2500" noProof="0" dirty="0" err="1"/>
              <a:t>coupler</a:t>
            </a:r>
            <a:r>
              <a:rPr lang="es-ES" sz="2500" noProof="0" dirty="0"/>
              <a:t> </a:t>
            </a:r>
            <a:r>
              <a:rPr lang="es-ES" sz="2500" noProof="0" dirty="0" err="1"/>
              <a:t>cross-section</a:t>
            </a:r>
            <a:r>
              <a:rPr lang="es-ES" sz="2500" noProof="0" dirty="0"/>
              <a:t> in </a:t>
            </a:r>
            <a:r>
              <a:rPr lang="es-ES" sz="2500" noProof="0" dirty="0" err="1"/>
              <a:t>GDSFactory</a:t>
            </a:r>
            <a:br>
              <a:rPr lang="es-ES" sz="2500" spc="-5" noProof="0" dirty="0">
                <a:latin typeface="+mj-lt"/>
                <a:cs typeface="Lucida Sans"/>
              </a:rPr>
            </a:br>
            <a:endParaRPr lang="es-ES" sz="2500" b="0" noProof="0" dirty="0">
              <a:latin typeface="+mj-lt"/>
              <a:cs typeface="Lucida Sans"/>
            </a:endParaRPr>
          </a:p>
        </p:txBody>
      </p:sp>
      <p:pic>
        <p:nvPicPr>
          <p:cNvPr id="10" name="Picture 9">
            <a:extLst>
              <a:ext uri="{FF2B5EF4-FFF2-40B4-BE49-F238E27FC236}">
                <a16:creationId xmlns:a16="http://schemas.microsoft.com/office/drawing/2014/main" id="{39B9C91B-D6AB-A1DC-8436-16AFE35C843E}"/>
              </a:ext>
            </a:extLst>
          </p:cNvPr>
          <p:cNvPicPr>
            <a:picLocks noChangeAspect="1"/>
          </p:cNvPicPr>
          <p:nvPr/>
        </p:nvPicPr>
        <p:blipFill>
          <a:blip r:embed="rId2"/>
          <a:stretch>
            <a:fillRect/>
          </a:stretch>
        </p:blipFill>
        <p:spPr>
          <a:xfrm>
            <a:off x="6851926" y="1066201"/>
            <a:ext cx="3529013" cy="2362799"/>
          </a:xfrm>
          <a:prstGeom prst="rect">
            <a:avLst/>
          </a:prstGeom>
        </p:spPr>
      </p:pic>
      <p:pic>
        <p:nvPicPr>
          <p:cNvPr id="12" name="Picture 11">
            <a:extLst>
              <a:ext uri="{FF2B5EF4-FFF2-40B4-BE49-F238E27FC236}">
                <a16:creationId xmlns:a16="http://schemas.microsoft.com/office/drawing/2014/main" id="{362E527A-0830-BFED-1F2D-243034E17B8F}"/>
              </a:ext>
            </a:extLst>
          </p:cNvPr>
          <p:cNvPicPr>
            <a:picLocks noChangeAspect="1"/>
          </p:cNvPicPr>
          <p:nvPr/>
        </p:nvPicPr>
        <p:blipFill>
          <a:blip r:embed="rId3"/>
          <a:stretch>
            <a:fillRect/>
          </a:stretch>
        </p:blipFill>
        <p:spPr>
          <a:xfrm>
            <a:off x="1458851" y="1144463"/>
            <a:ext cx="3408683" cy="2330365"/>
          </a:xfrm>
          <a:prstGeom prst="rect">
            <a:avLst/>
          </a:prstGeom>
        </p:spPr>
      </p:pic>
      <p:pic>
        <p:nvPicPr>
          <p:cNvPr id="14" name="Picture 13">
            <a:extLst>
              <a:ext uri="{FF2B5EF4-FFF2-40B4-BE49-F238E27FC236}">
                <a16:creationId xmlns:a16="http://schemas.microsoft.com/office/drawing/2014/main" id="{4CF8A8EA-64C2-13F0-0D5F-5AE7D75981F2}"/>
              </a:ext>
            </a:extLst>
          </p:cNvPr>
          <p:cNvPicPr>
            <a:picLocks noChangeAspect="1"/>
          </p:cNvPicPr>
          <p:nvPr/>
        </p:nvPicPr>
        <p:blipFill>
          <a:blip r:embed="rId4"/>
          <a:stretch>
            <a:fillRect/>
          </a:stretch>
        </p:blipFill>
        <p:spPr>
          <a:xfrm>
            <a:off x="1395650" y="3771096"/>
            <a:ext cx="3535087" cy="2362799"/>
          </a:xfrm>
          <a:prstGeom prst="rect">
            <a:avLst/>
          </a:prstGeom>
        </p:spPr>
      </p:pic>
      <p:pic>
        <p:nvPicPr>
          <p:cNvPr id="16" name="Picture 15">
            <a:extLst>
              <a:ext uri="{FF2B5EF4-FFF2-40B4-BE49-F238E27FC236}">
                <a16:creationId xmlns:a16="http://schemas.microsoft.com/office/drawing/2014/main" id="{EADC9FDC-F9C2-63BF-2EFF-08BC489DDCF3}"/>
              </a:ext>
            </a:extLst>
          </p:cNvPr>
          <p:cNvPicPr>
            <a:picLocks noChangeAspect="1"/>
          </p:cNvPicPr>
          <p:nvPr/>
        </p:nvPicPr>
        <p:blipFill>
          <a:blip r:embed="rId5"/>
          <a:stretch>
            <a:fillRect/>
          </a:stretch>
        </p:blipFill>
        <p:spPr>
          <a:xfrm>
            <a:off x="6851926" y="3771096"/>
            <a:ext cx="3535087" cy="2372950"/>
          </a:xfrm>
          <a:prstGeom prst="rect">
            <a:avLst/>
          </a:prstGeom>
        </p:spPr>
      </p:pic>
      <p:sp>
        <p:nvSpPr>
          <p:cNvPr id="17" name="TextBox 16">
            <a:extLst>
              <a:ext uri="{FF2B5EF4-FFF2-40B4-BE49-F238E27FC236}">
                <a16:creationId xmlns:a16="http://schemas.microsoft.com/office/drawing/2014/main" id="{FAFB797E-8C71-F3F6-BB84-A5FBDB97AB23}"/>
              </a:ext>
            </a:extLst>
          </p:cNvPr>
          <p:cNvSpPr txBox="1"/>
          <p:nvPr/>
        </p:nvSpPr>
        <p:spPr>
          <a:xfrm>
            <a:off x="1600200" y="914400"/>
            <a:ext cx="2819400" cy="369332"/>
          </a:xfrm>
          <a:prstGeom prst="rect">
            <a:avLst/>
          </a:prstGeom>
          <a:noFill/>
        </p:spPr>
        <p:txBody>
          <a:bodyPr wrap="square" rtlCol="0">
            <a:spAutoFit/>
          </a:bodyPr>
          <a:lstStyle/>
          <a:p>
            <a:r>
              <a:rPr lang="es-ES" noProof="0" dirty="0"/>
              <a:t>Modo TE0</a:t>
            </a:r>
          </a:p>
        </p:txBody>
      </p:sp>
      <p:sp>
        <p:nvSpPr>
          <p:cNvPr id="18" name="TextBox 17">
            <a:extLst>
              <a:ext uri="{FF2B5EF4-FFF2-40B4-BE49-F238E27FC236}">
                <a16:creationId xmlns:a16="http://schemas.microsoft.com/office/drawing/2014/main" id="{55C88523-6828-7931-D274-3681EAECF0A8}"/>
              </a:ext>
            </a:extLst>
          </p:cNvPr>
          <p:cNvSpPr txBox="1"/>
          <p:nvPr/>
        </p:nvSpPr>
        <p:spPr>
          <a:xfrm>
            <a:off x="7206732" y="914400"/>
            <a:ext cx="2819400" cy="369332"/>
          </a:xfrm>
          <a:prstGeom prst="rect">
            <a:avLst/>
          </a:prstGeom>
          <a:noFill/>
        </p:spPr>
        <p:txBody>
          <a:bodyPr wrap="square" rtlCol="0">
            <a:spAutoFit/>
          </a:bodyPr>
          <a:lstStyle/>
          <a:p>
            <a:r>
              <a:rPr lang="es-ES" noProof="0" dirty="0"/>
              <a:t>Modo TE1</a:t>
            </a:r>
          </a:p>
        </p:txBody>
      </p:sp>
      <p:sp>
        <p:nvSpPr>
          <p:cNvPr id="19" name="TextBox 18">
            <a:extLst>
              <a:ext uri="{FF2B5EF4-FFF2-40B4-BE49-F238E27FC236}">
                <a16:creationId xmlns:a16="http://schemas.microsoft.com/office/drawing/2014/main" id="{90F26557-CCC9-2A59-FB63-E9A1D19C8166}"/>
              </a:ext>
            </a:extLst>
          </p:cNvPr>
          <p:cNvSpPr txBox="1"/>
          <p:nvPr/>
        </p:nvSpPr>
        <p:spPr>
          <a:xfrm>
            <a:off x="1600200" y="3586430"/>
            <a:ext cx="2819400" cy="369332"/>
          </a:xfrm>
          <a:prstGeom prst="rect">
            <a:avLst/>
          </a:prstGeom>
          <a:noFill/>
        </p:spPr>
        <p:txBody>
          <a:bodyPr wrap="square" rtlCol="0">
            <a:spAutoFit/>
          </a:bodyPr>
          <a:lstStyle/>
          <a:p>
            <a:r>
              <a:rPr lang="es-ES" noProof="0" dirty="0"/>
              <a:t>Modo TM0</a:t>
            </a:r>
          </a:p>
        </p:txBody>
      </p:sp>
      <p:sp>
        <p:nvSpPr>
          <p:cNvPr id="20" name="TextBox 19">
            <a:extLst>
              <a:ext uri="{FF2B5EF4-FFF2-40B4-BE49-F238E27FC236}">
                <a16:creationId xmlns:a16="http://schemas.microsoft.com/office/drawing/2014/main" id="{B1EEAD6C-DB16-6EE2-73F9-E73179000514}"/>
              </a:ext>
            </a:extLst>
          </p:cNvPr>
          <p:cNvSpPr txBox="1"/>
          <p:nvPr/>
        </p:nvSpPr>
        <p:spPr>
          <a:xfrm>
            <a:off x="7206732" y="3580801"/>
            <a:ext cx="2819400" cy="369332"/>
          </a:xfrm>
          <a:prstGeom prst="rect">
            <a:avLst/>
          </a:prstGeom>
          <a:noFill/>
        </p:spPr>
        <p:txBody>
          <a:bodyPr wrap="square" rtlCol="0">
            <a:spAutoFit/>
          </a:bodyPr>
          <a:lstStyle/>
          <a:p>
            <a:r>
              <a:rPr lang="es-ES" noProof="0" dirty="0"/>
              <a:t>Modo TM1</a:t>
            </a:r>
          </a:p>
        </p:txBody>
      </p:sp>
    </p:spTree>
    <p:extLst>
      <p:ext uri="{BB962C8B-B14F-4D97-AF65-F5344CB8AC3E}">
        <p14:creationId xmlns:p14="http://schemas.microsoft.com/office/powerpoint/2010/main" val="512023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760752-108F-99D1-4EE7-47F01ECEC25F}"/>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5" name="Slide Number Placeholder 4">
            <a:extLst>
              <a:ext uri="{FF2B5EF4-FFF2-40B4-BE49-F238E27FC236}">
                <a16:creationId xmlns:a16="http://schemas.microsoft.com/office/drawing/2014/main" id="{212A7C7A-5E57-0105-1359-DEB43A11B2CF}"/>
              </a:ext>
            </a:extLst>
          </p:cNvPr>
          <p:cNvSpPr>
            <a:spLocks noGrp="1"/>
          </p:cNvSpPr>
          <p:nvPr>
            <p:ph type="sldNum" sz="quarter" idx="7"/>
          </p:nvPr>
        </p:nvSpPr>
        <p:spPr/>
        <p:txBody>
          <a:bodyPr/>
          <a:lstStyle/>
          <a:p>
            <a:fld id="{B6F15528-21DE-4FAA-801E-634DDDAF4B2B}" type="slidenum">
              <a:rPr lang="es-ES" noProof="0" smtClean="0"/>
              <a:t>6</a:t>
            </a:fld>
            <a:endParaRPr lang="es-ES" noProof="0" dirty="0"/>
          </a:p>
        </p:txBody>
      </p:sp>
      <p:sp>
        <p:nvSpPr>
          <p:cNvPr id="6" name="object 16">
            <a:extLst>
              <a:ext uri="{FF2B5EF4-FFF2-40B4-BE49-F238E27FC236}">
                <a16:creationId xmlns:a16="http://schemas.microsoft.com/office/drawing/2014/main" id="{86D99A78-402A-9CF7-512E-08598D52438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#1 – </a:t>
            </a:r>
            <a:r>
              <a:rPr lang="es-ES" sz="2500" noProof="0" dirty="0" err="1"/>
              <a:t>Directional</a:t>
            </a:r>
            <a:r>
              <a:rPr lang="es-ES" sz="2500" noProof="0" dirty="0"/>
              <a:t> </a:t>
            </a:r>
            <a:r>
              <a:rPr lang="es-ES" sz="2500" noProof="0" dirty="0" err="1"/>
              <a:t>coupler</a:t>
            </a:r>
            <a:r>
              <a:rPr lang="es-ES" sz="2500" noProof="0" dirty="0"/>
              <a:t> </a:t>
            </a:r>
            <a:r>
              <a:rPr lang="es-ES" sz="2500" noProof="0" dirty="0" err="1"/>
              <a:t>cross-section</a:t>
            </a:r>
            <a:r>
              <a:rPr lang="es-ES" sz="2500" noProof="0" dirty="0"/>
              <a:t> in </a:t>
            </a:r>
            <a:r>
              <a:rPr lang="es-ES" sz="2500" noProof="0" dirty="0" err="1"/>
              <a:t>GDSFactory</a:t>
            </a:r>
            <a:br>
              <a:rPr lang="es-ES" sz="2500" spc="-5" noProof="0" dirty="0">
                <a:latin typeface="+mj-lt"/>
                <a:cs typeface="Lucida Sans"/>
              </a:rPr>
            </a:br>
            <a:endParaRPr lang="es-ES" sz="2500" b="0" noProof="0" dirty="0">
              <a:latin typeface="+mj-lt"/>
              <a:cs typeface="Lucida Sans"/>
            </a:endParaRPr>
          </a:p>
        </p:txBody>
      </p:sp>
      <p:sp>
        <p:nvSpPr>
          <p:cNvPr id="7" name="CuadroTexto 1">
            <a:extLst>
              <a:ext uri="{FF2B5EF4-FFF2-40B4-BE49-F238E27FC236}">
                <a16:creationId xmlns:a16="http://schemas.microsoft.com/office/drawing/2014/main" id="{05CA0987-5A1A-D65A-DC0A-86DF18110034}"/>
              </a:ext>
            </a:extLst>
          </p:cNvPr>
          <p:cNvSpPr txBox="1"/>
          <p:nvPr/>
        </p:nvSpPr>
        <p:spPr>
          <a:xfrm>
            <a:off x="685800" y="1295400"/>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En las gráficas de la diapositiva anterior podemos ver cómo funcionan los diferentes modos.</a:t>
            </a:r>
          </a:p>
          <a:p>
            <a:pPr algn="just"/>
            <a:r>
              <a:rPr lang="es-ES" sz="1200" noProof="0" dirty="0">
                <a:latin typeface="Arial" panose="020B0604020202020204" pitchFamily="34" charset="0"/>
                <a:cs typeface="Arial" panose="020B0604020202020204" pitchFamily="34" charset="0"/>
              </a:rPr>
              <a:t>Vemos que al comparar los modos TE0 y TM0 con el TE1 y TM1 respectivamente, por una guía circula el campo positivo (en este caso la izquierda), mientras que por la otra aparece el mismo campo pero en negativo.</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De las gráficas también Podemos extraer que la polarización que más confinado tiene el campo es la TE, que generalmente tiene una mayor potencia dentro de la guía respecto a la TM. Esto es debido a la naturaleza de los modos y cómo se comportan respecto a las paredes de las guías, ya que con el modo TE con una vía rectangular de este tipo es más fácil que se mantenga el campo dentro de la guía en comparación al modo TM.</a:t>
            </a:r>
          </a:p>
        </p:txBody>
      </p:sp>
    </p:spTree>
    <p:extLst>
      <p:ext uri="{BB962C8B-B14F-4D97-AF65-F5344CB8AC3E}">
        <p14:creationId xmlns:p14="http://schemas.microsoft.com/office/powerpoint/2010/main" val="1869753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#2 – </a:t>
            </a:r>
            <a:r>
              <a:rPr lang="es-ES" sz="2500" noProof="0" dirty="0" err="1"/>
              <a:t>Directional</a:t>
            </a:r>
            <a:r>
              <a:rPr lang="es-ES" sz="2500" noProof="0" dirty="0"/>
              <a:t> </a:t>
            </a:r>
            <a:r>
              <a:rPr lang="es-ES" sz="2500" noProof="0" dirty="0" err="1"/>
              <a:t>coupler</a:t>
            </a:r>
            <a:r>
              <a:rPr lang="es-ES" sz="2500" noProof="0" dirty="0"/>
              <a:t> </a:t>
            </a:r>
            <a:r>
              <a:rPr lang="es-ES" sz="2500" noProof="0" dirty="0" err="1"/>
              <a:t>length</a:t>
            </a:r>
            <a:r>
              <a:rPr lang="es-ES" sz="2500" noProof="0" dirty="0"/>
              <a:t> and </a:t>
            </a:r>
            <a:r>
              <a:rPr lang="es-ES" sz="2500" noProof="0" dirty="0" err="1"/>
              <a:t>coupling</a:t>
            </a:r>
            <a:r>
              <a:rPr lang="es-ES" sz="2500" noProof="0" dirty="0"/>
              <a:t> </a:t>
            </a:r>
            <a:r>
              <a:rPr lang="es-ES" sz="2500" noProof="0" dirty="0" err="1"/>
              <a:t>coefficient</a:t>
            </a:r>
            <a:br>
              <a:rPr lang="es-ES" sz="2500" spc="-5" noProof="0" dirty="0">
                <a:latin typeface="+mj-lt"/>
                <a:cs typeface="Lucida Sans"/>
              </a:rPr>
            </a:br>
            <a:r>
              <a:rPr lang="es-ES" b="0" noProof="0" dirty="0" err="1"/>
              <a:t>Wavelength</a:t>
            </a:r>
            <a:r>
              <a:rPr lang="es-ES" b="0" noProof="0" dirty="0"/>
              <a:t> 1.5 µm – </a:t>
            </a:r>
            <a:r>
              <a:rPr lang="es-ES" b="0" noProof="0" dirty="0" err="1"/>
              <a:t>width</a:t>
            </a:r>
            <a:r>
              <a:rPr lang="es-ES" b="0" noProof="0" dirty="0"/>
              <a:t> 1.2 µm – gap 0.6 µm – </a:t>
            </a:r>
            <a:r>
              <a:rPr lang="es-ES" b="0" noProof="0" dirty="0" err="1"/>
              <a:t>thickness</a:t>
            </a:r>
            <a:r>
              <a:rPr lang="es-ES" b="0" noProof="0" dirty="0"/>
              <a:t> 300 nm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noProof="0" smtClean="0"/>
              <a:t>7</a:t>
            </a:fld>
            <a:endParaRPr lang="es-ES" noProof="0" dirty="0"/>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Para tener una transferencia de potencia completa en el modo TE, hace falta una distancia de unos 90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mientras que en el modo TM es sobre los 50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donde encontramos la máxima transferencia de potencia, esto repitiéndose cada 110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a:t>
            </a:r>
          </a:p>
          <a:p>
            <a:pPr algn="just"/>
            <a:r>
              <a:rPr lang="es-ES" sz="1200" noProof="0" dirty="0">
                <a:latin typeface="Arial" panose="020B0604020202020204" pitchFamily="34" charset="0"/>
                <a:cs typeface="Arial" panose="020B0604020202020204" pitchFamily="34" charset="0"/>
              </a:rPr>
              <a:t>Si en cambio queremos que se divida la transferencia en dos partes iguales, en el modo TE podemos encontrar estos puntos a los 50 y 140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mientras que en el modo TM está sobre los 25, repitiéndose cada 55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a:t>
            </a: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Picture 4">
            <a:extLst>
              <a:ext uri="{FF2B5EF4-FFF2-40B4-BE49-F238E27FC236}">
                <a16:creationId xmlns:a16="http://schemas.microsoft.com/office/drawing/2014/main" id="{C32EB33A-3935-90B2-E990-674B17A56DAC}"/>
              </a:ext>
            </a:extLst>
          </p:cNvPr>
          <p:cNvPicPr>
            <a:picLocks noChangeAspect="1"/>
          </p:cNvPicPr>
          <p:nvPr/>
        </p:nvPicPr>
        <p:blipFill>
          <a:blip r:embed="rId4"/>
          <a:stretch>
            <a:fillRect/>
          </a:stretch>
        </p:blipFill>
        <p:spPr>
          <a:xfrm>
            <a:off x="1107100" y="1458375"/>
            <a:ext cx="4988900" cy="3225684"/>
          </a:xfrm>
          <a:prstGeom prst="rect">
            <a:avLst/>
          </a:prstGeom>
        </p:spPr>
      </p:pic>
      <p:pic>
        <p:nvPicPr>
          <p:cNvPr id="10" name="Picture 9">
            <a:extLst>
              <a:ext uri="{FF2B5EF4-FFF2-40B4-BE49-F238E27FC236}">
                <a16:creationId xmlns:a16="http://schemas.microsoft.com/office/drawing/2014/main" id="{A333769E-8DA7-B613-4A45-12664E8FF5DE}"/>
              </a:ext>
            </a:extLst>
          </p:cNvPr>
          <p:cNvPicPr>
            <a:picLocks noChangeAspect="1"/>
          </p:cNvPicPr>
          <p:nvPr/>
        </p:nvPicPr>
        <p:blipFill>
          <a:blip r:embed="rId5"/>
          <a:stretch>
            <a:fillRect/>
          </a:stretch>
        </p:blipFill>
        <p:spPr>
          <a:xfrm>
            <a:off x="6274500" y="1458375"/>
            <a:ext cx="4988900" cy="3225684"/>
          </a:xfrm>
          <a:prstGeom prst="rect">
            <a:avLst/>
          </a:prstGeom>
        </p:spPr>
      </p:pic>
      <p:sp>
        <p:nvSpPr>
          <p:cNvPr id="11" name="TextBox 10">
            <a:extLst>
              <a:ext uri="{FF2B5EF4-FFF2-40B4-BE49-F238E27FC236}">
                <a16:creationId xmlns:a16="http://schemas.microsoft.com/office/drawing/2014/main" id="{A0965848-3D6B-BCBA-CE5B-EC36C1D5ECAE}"/>
              </a:ext>
            </a:extLst>
          </p:cNvPr>
          <p:cNvSpPr txBox="1"/>
          <p:nvPr/>
        </p:nvSpPr>
        <p:spPr>
          <a:xfrm>
            <a:off x="2971800" y="1088176"/>
            <a:ext cx="1024639" cy="369332"/>
          </a:xfrm>
          <a:prstGeom prst="rect">
            <a:avLst/>
          </a:prstGeom>
          <a:noFill/>
        </p:spPr>
        <p:txBody>
          <a:bodyPr wrap="none" rtlCol="0">
            <a:spAutoFit/>
          </a:bodyPr>
          <a:lstStyle/>
          <a:p>
            <a:r>
              <a:rPr lang="es-ES" noProof="0" dirty="0"/>
              <a:t>Modo TE</a:t>
            </a:r>
          </a:p>
        </p:txBody>
      </p:sp>
      <p:sp>
        <p:nvSpPr>
          <p:cNvPr id="12" name="TextBox 11">
            <a:extLst>
              <a:ext uri="{FF2B5EF4-FFF2-40B4-BE49-F238E27FC236}">
                <a16:creationId xmlns:a16="http://schemas.microsoft.com/office/drawing/2014/main" id="{C88D636E-174C-72C4-4EAB-8C5A10E4A93D}"/>
              </a:ext>
            </a:extLst>
          </p:cNvPr>
          <p:cNvSpPr txBox="1"/>
          <p:nvPr/>
        </p:nvSpPr>
        <p:spPr>
          <a:xfrm>
            <a:off x="8458200" y="1038100"/>
            <a:ext cx="1109599" cy="369332"/>
          </a:xfrm>
          <a:prstGeom prst="rect">
            <a:avLst/>
          </a:prstGeom>
          <a:noFill/>
        </p:spPr>
        <p:txBody>
          <a:bodyPr wrap="none" rtlCol="0">
            <a:spAutoFit/>
          </a:bodyPr>
          <a:lstStyle/>
          <a:p>
            <a:r>
              <a:rPr lang="es-ES" noProof="0" dirty="0"/>
              <a:t>Modo TM</a:t>
            </a:r>
          </a:p>
        </p:txBody>
      </p:sp>
    </p:spTree>
    <p:extLst>
      <p:ext uri="{BB962C8B-B14F-4D97-AF65-F5344CB8AC3E}">
        <p14:creationId xmlns:p14="http://schemas.microsoft.com/office/powerpoint/2010/main" val="3663624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#3 – 2x2 </a:t>
            </a:r>
            <a:r>
              <a:rPr lang="es-ES" sz="2500" noProof="0" dirty="0" err="1"/>
              <a:t>Directional</a:t>
            </a:r>
            <a:r>
              <a:rPr lang="es-ES" sz="2500" noProof="0" dirty="0"/>
              <a:t> </a:t>
            </a:r>
            <a:r>
              <a:rPr lang="es-ES" sz="2500" noProof="0" dirty="0" err="1"/>
              <a:t>Coupler</a:t>
            </a:r>
            <a:br>
              <a:rPr lang="es-ES" sz="2500" spc="-5" noProof="0" dirty="0">
                <a:latin typeface="+mj-lt"/>
                <a:cs typeface="Lucida Sans"/>
              </a:rPr>
            </a:br>
            <a:r>
              <a:rPr lang="es-ES" b="0" noProof="0" dirty="0" err="1"/>
              <a:t>Wavelength</a:t>
            </a:r>
            <a:r>
              <a:rPr lang="es-ES" b="0" noProof="0" dirty="0"/>
              <a:t> 1.55 µm – Sweep gaps </a:t>
            </a:r>
            <a:r>
              <a:rPr lang="es-ES" b="0" noProof="0" dirty="0" err="1"/>
              <a:t>between</a:t>
            </a:r>
            <a:r>
              <a:rPr lang="es-ES" b="0" noProof="0" dirty="0"/>
              <a:t> 0.2 and 1.2 µm in </a:t>
            </a:r>
            <a:r>
              <a:rPr lang="es-ES" b="0" noProof="0" dirty="0" err="1"/>
              <a:t>steps</a:t>
            </a:r>
            <a:r>
              <a:rPr lang="es-ES" b="0" noProof="0" dirty="0"/>
              <a:t> </a:t>
            </a:r>
            <a:r>
              <a:rPr lang="es-ES" b="0" noProof="0" dirty="0" err="1"/>
              <a:t>of</a:t>
            </a:r>
            <a:r>
              <a:rPr lang="es-ES" b="0" noProof="0" dirty="0"/>
              <a:t> 0.2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noProof="0" smtClean="0"/>
              <a:t>8</a:t>
            </a:fld>
            <a:endParaRPr lang="es-ES" noProof="0"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Para los gaps de 1 y 1.2 µm ocurre un error que no se ha podido solucionar, pero con las demás simulaciones podemos observar que el coeficiente de acoplo es menor cuanto mayor es el gap, por lo que a su vez, las pérdidas disminuyen. También vemos que </a:t>
            </a:r>
            <a:r>
              <a:rPr lang="es-ES" sz="1200" noProof="0" dirty="0" err="1">
                <a:latin typeface="Arial" panose="020B0604020202020204" pitchFamily="34" charset="0"/>
                <a:cs typeface="Arial" panose="020B0604020202020204" pitchFamily="34" charset="0"/>
              </a:rPr>
              <a:t>L_pi</a:t>
            </a:r>
            <a:r>
              <a:rPr lang="es-ES" sz="1200" noProof="0" dirty="0">
                <a:latin typeface="Arial" panose="020B0604020202020204" pitchFamily="34" charset="0"/>
                <a:cs typeface="Arial" panose="020B0604020202020204" pitchFamily="34" charset="0"/>
              </a:rPr>
              <a:t> aumenta de manera muy significativa conforme aumenta el gap entre las guías de onda.</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Picture 4">
            <a:extLst>
              <a:ext uri="{FF2B5EF4-FFF2-40B4-BE49-F238E27FC236}">
                <a16:creationId xmlns:a16="http://schemas.microsoft.com/office/drawing/2014/main" id="{F6F05FC5-072F-7AC9-824E-5340CE980F79}"/>
              </a:ext>
            </a:extLst>
          </p:cNvPr>
          <p:cNvPicPr>
            <a:picLocks noChangeAspect="1"/>
          </p:cNvPicPr>
          <p:nvPr/>
        </p:nvPicPr>
        <p:blipFill>
          <a:blip r:embed="rId4"/>
          <a:stretch>
            <a:fillRect/>
          </a:stretch>
        </p:blipFill>
        <p:spPr>
          <a:xfrm>
            <a:off x="8178615" y="1956084"/>
            <a:ext cx="3617350" cy="919983"/>
          </a:xfrm>
          <a:prstGeom prst="rect">
            <a:avLst/>
          </a:prstGeom>
        </p:spPr>
      </p:pic>
      <p:sp>
        <p:nvSpPr>
          <p:cNvPr id="6" name="TextBox 5">
            <a:extLst>
              <a:ext uri="{FF2B5EF4-FFF2-40B4-BE49-F238E27FC236}">
                <a16:creationId xmlns:a16="http://schemas.microsoft.com/office/drawing/2014/main" id="{2FF8AFA8-DD43-10C1-1D63-876DCF9D7963}"/>
              </a:ext>
            </a:extLst>
          </p:cNvPr>
          <p:cNvSpPr txBox="1"/>
          <p:nvPr/>
        </p:nvSpPr>
        <p:spPr>
          <a:xfrm>
            <a:off x="5755615" y="1492050"/>
            <a:ext cx="1271502" cy="369332"/>
          </a:xfrm>
          <a:prstGeom prst="rect">
            <a:avLst/>
          </a:prstGeom>
          <a:noFill/>
        </p:spPr>
        <p:txBody>
          <a:bodyPr wrap="none" rtlCol="0">
            <a:spAutoFit/>
          </a:bodyPr>
          <a:lstStyle/>
          <a:p>
            <a:r>
              <a:rPr lang="es-ES" noProof="0" dirty="0"/>
              <a:t>Gap 0.4 µm</a:t>
            </a:r>
          </a:p>
        </p:txBody>
      </p:sp>
      <p:sp>
        <p:nvSpPr>
          <p:cNvPr id="9" name="TextBox 8">
            <a:extLst>
              <a:ext uri="{FF2B5EF4-FFF2-40B4-BE49-F238E27FC236}">
                <a16:creationId xmlns:a16="http://schemas.microsoft.com/office/drawing/2014/main" id="{D1F4C289-C78C-C00C-604D-16FCDED92F99}"/>
              </a:ext>
            </a:extLst>
          </p:cNvPr>
          <p:cNvSpPr txBox="1"/>
          <p:nvPr/>
        </p:nvSpPr>
        <p:spPr>
          <a:xfrm>
            <a:off x="1891437" y="1486678"/>
            <a:ext cx="1271502" cy="369332"/>
          </a:xfrm>
          <a:prstGeom prst="rect">
            <a:avLst/>
          </a:prstGeom>
          <a:noFill/>
        </p:spPr>
        <p:txBody>
          <a:bodyPr wrap="none" rtlCol="0">
            <a:spAutoFit/>
          </a:bodyPr>
          <a:lstStyle/>
          <a:p>
            <a:r>
              <a:rPr lang="es-ES" noProof="0" dirty="0"/>
              <a:t>Gap 0.2 µm</a:t>
            </a:r>
          </a:p>
        </p:txBody>
      </p:sp>
      <p:sp>
        <p:nvSpPr>
          <p:cNvPr id="10" name="TextBox 9">
            <a:extLst>
              <a:ext uri="{FF2B5EF4-FFF2-40B4-BE49-F238E27FC236}">
                <a16:creationId xmlns:a16="http://schemas.microsoft.com/office/drawing/2014/main" id="{4977C8E7-7604-B5B5-0D2E-21B30669001F}"/>
              </a:ext>
            </a:extLst>
          </p:cNvPr>
          <p:cNvSpPr txBox="1"/>
          <p:nvPr/>
        </p:nvSpPr>
        <p:spPr>
          <a:xfrm>
            <a:off x="9442218" y="1476024"/>
            <a:ext cx="1271502" cy="369332"/>
          </a:xfrm>
          <a:prstGeom prst="rect">
            <a:avLst/>
          </a:prstGeom>
          <a:noFill/>
        </p:spPr>
        <p:txBody>
          <a:bodyPr wrap="none" rtlCol="0">
            <a:spAutoFit/>
          </a:bodyPr>
          <a:lstStyle/>
          <a:p>
            <a:r>
              <a:rPr lang="es-ES" noProof="0" dirty="0"/>
              <a:t>Gap 0.6 µm</a:t>
            </a:r>
          </a:p>
        </p:txBody>
      </p:sp>
      <p:pic>
        <p:nvPicPr>
          <p:cNvPr id="12" name="Picture 11">
            <a:extLst>
              <a:ext uri="{FF2B5EF4-FFF2-40B4-BE49-F238E27FC236}">
                <a16:creationId xmlns:a16="http://schemas.microsoft.com/office/drawing/2014/main" id="{FC459AF2-E17A-265E-B75A-B9DE60405BD5}"/>
              </a:ext>
            </a:extLst>
          </p:cNvPr>
          <p:cNvPicPr>
            <a:picLocks noChangeAspect="1"/>
          </p:cNvPicPr>
          <p:nvPr/>
        </p:nvPicPr>
        <p:blipFill>
          <a:blip r:embed="rId5"/>
          <a:stretch>
            <a:fillRect/>
          </a:stretch>
        </p:blipFill>
        <p:spPr>
          <a:xfrm>
            <a:off x="914400" y="1856010"/>
            <a:ext cx="3200400" cy="1201936"/>
          </a:xfrm>
          <a:prstGeom prst="rect">
            <a:avLst/>
          </a:prstGeom>
        </p:spPr>
      </p:pic>
      <p:sp>
        <p:nvSpPr>
          <p:cNvPr id="15" name="TextBox 14">
            <a:extLst>
              <a:ext uri="{FF2B5EF4-FFF2-40B4-BE49-F238E27FC236}">
                <a16:creationId xmlns:a16="http://schemas.microsoft.com/office/drawing/2014/main" id="{16904455-4971-8D82-2A84-D20A72433D11}"/>
              </a:ext>
            </a:extLst>
          </p:cNvPr>
          <p:cNvSpPr txBox="1"/>
          <p:nvPr/>
        </p:nvSpPr>
        <p:spPr>
          <a:xfrm>
            <a:off x="1873508" y="3057946"/>
            <a:ext cx="1271502" cy="369332"/>
          </a:xfrm>
          <a:prstGeom prst="rect">
            <a:avLst/>
          </a:prstGeom>
          <a:noFill/>
        </p:spPr>
        <p:txBody>
          <a:bodyPr wrap="none" rtlCol="0">
            <a:spAutoFit/>
          </a:bodyPr>
          <a:lstStyle/>
          <a:p>
            <a:r>
              <a:rPr lang="es-ES" noProof="0" dirty="0"/>
              <a:t>Gap 0.8 µm</a:t>
            </a:r>
          </a:p>
        </p:txBody>
      </p:sp>
      <p:sp>
        <p:nvSpPr>
          <p:cNvPr id="17" name="TextBox 16">
            <a:extLst>
              <a:ext uri="{FF2B5EF4-FFF2-40B4-BE49-F238E27FC236}">
                <a16:creationId xmlns:a16="http://schemas.microsoft.com/office/drawing/2014/main" id="{E315D322-5B1F-4D2D-4FE7-772D500F0BF4}"/>
              </a:ext>
            </a:extLst>
          </p:cNvPr>
          <p:cNvSpPr txBox="1"/>
          <p:nvPr/>
        </p:nvSpPr>
        <p:spPr>
          <a:xfrm>
            <a:off x="5755615" y="3084260"/>
            <a:ext cx="1096775" cy="369332"/>
          </a:xfrm>
          <a:prstGeom prst="rect">
            <a:avLst/>
          </a:prstGeom>
          <a:noFill/>
        </p:spPr>
        <p:txBody>
          <a:bodyPr wrap="none" rtlCol="0">
            <a:spAutoFit/>
          </a:bodyPr>
          <a:lstStyle/>
          <a:p>
            <a:r>
              <a:rPr lang="es-ES" noProof="0" dirty="0"/>
              <a:t>Gap 1 µm</a:t>
            </a:r>
          </a:p>
        </p:txBody>
      </p:sp>
      <p:sp>
        <p:nvSpPr>
          <p:cNvPr id="18" name="TextBox 17">
            <a:extLst>
              <a:ext uri="{FF2B5EF4-FFF2-40B4-BE49-F238E27FC236}">
                <a16:creationId xmlns:a16="http://schemas.microsoft.com/office/drawing/2014/main" id="{E7108162-B453-130F-A609-12F5256CA30F}"/>
              </a:ext>
            </a:extLst>
          </p:cNvPr>
          <p:cNvSpPr txBox="1"/>
          <p:nvPr/>
        </p:nvSpPr>
        <p:spPr>
          <a:xfrm>
            <a:off x="9442218" y="3071387"/>
            <a:ext cx="1271502" cy="369332"/>
          </a:xfrm>
          <a:prstGeom prst="rect">
            <a:avLst/>
          </a:prstGeom>
          <a:noFill/>
        </p:spPr>
        <p:txBody>
          <a:bodyPr wrap="none" rtlCol="0">
            <a:spAutoFit/>
          </a:bodyPr>
          <a:lstStyle/>
          <a:p>
            <a:r>
              <a:rPr lang="es-ES" noProof="0" dirty="0"/>
              <a:t>Gap 1.2 µm</a:t>
            </a:r>
          </a:p>
        </p:txBody>
      </p:sp>
      <p:pic>
        <p:nvPicPr>
          <p:cNvPr id="20" name="Picture 19">
            <a:extLst>
              <a:ext uri="{FF2B5EF4-FFF2-40B4-BE49-F238E27FC236}">
                <a16:creationId xmlns:a16="http://schemas.microsoft.com/office/drawing/2014/main" id="{8AA7572D-308A-936A-88C3-2A87A9510FB9}"/>
              </a:ext>
            </a:extLst>
          </p:cNvPr>
          <p:cNvPicPr>
            <a:picLocks noChangeAspect="1"/>
          </p:cNvPicPr>
          <p:nvPr/>
        </p:nvPicPr>
        <p:blipFill>
          <a:blip r:embed="rId6"/>
          <a:stretch>
            <a:fillRect/>
          </a:stretch>
        </p:blipFill>
        <p:spPr>
          <a:xfrm>
            <a:off x="4305441" y="1856010"/>
            <a:ext cx="3710778" cy="1174866"/>
          </a:xfrm>
          <a:prstGeom prst="rect">
            <a:avLst/>
          </a:prstGeom>
        </p:spPr>
      </p:pic>
      <p:pic>
        <p:nvPicPr>
          <p:cNvPr id="22" name="Picture 21">
            <a:extLst>
              <a:ext uri="{FF2B5EF4-FFF2-40B4-BE49-F238E27FC236}">
                <a16:creationId xmlns:a16="http://schemas.microsoft.com/office/drawing/2014/main" id="{CD27285A-6B18-A24E-B3CB-B8856EF2C552}"/>
              </a:ext>
            </a:extLst>
          </p:cNvPr>
          <p:cNvPicPr>
            <a:picLocks noChangeAspect="1"/>
          </p:cNvPicPr>
          <p:nvPr/>
        </p:nvPicPr>
        <p:blipFill>
          <a:blip r:embed="rId7"/>
          <a:stretch>
            <a:fillRect/>
          </a:stretch>
        </p:blipFill>
        <p:spPr>
          <a:xfrm>
            <a:off x="914400" y="3581140"/>
            <a:ext cx="3200400" cy="1034506"/>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#4 – </a:t>
            </a:r>
            <a:r>
              <a:rPr lang="es-ES" sz="2500" noProof="0" dirty="0" err="1"/>
              <a:t>Parallel</a:t>
            </a:r>
            <a:r>
              <a:rPr lang="es-ES" sz="2500" noProof="0" dirty="0"/>
              <a:t> </a:t>
            </a:r>
            <a:r>
              <a:rPr lang="es-ES" sz="2500" noProof="0" dirty="0" err="1"/>
              <a:t>uncoupled</a:t>
            </a:r>
            <a:r>
              <a:rPr lang="es-ES" sz="2500" noProof="0" dirty="0"/>
              <a:t> </a:t>
            </a:r>
            <a:r>
              <a:rPr lang="es-ES" sz="2500" noProof="0" dirty="0" err="1"/>
              <a:t>waveguides</a:t>
            </a:r>
            <a:r>
              <a:rPr lang="es-ES" sz="2500" noProof="0" dirty="0"/>
              <a:t> – TE0 </a:t>
            </a:r>
            <a:r>
              <a:rPr lang="es-ES" sz="2500" noProof="0" dirty="0" err="1"/>
              <a:t>mode</a:t>
            </a:r>
            <a:br>
              <a:rPr lang="es-ES" sz="2500" spc="-5" noProof="0" dirty="0">
                <a:latin typeface="+mj-lt"/>
                <a:cs typeface="Lucida Sans"/>
              </a:rPr>
            </a:br>
            <a:r>
              <a:rPr lang="es-ES" b="0" noProof="0" dirty="0" err="1"/>
              <a:t>Wavelength</a:t>
            </a:r>
            <a:r>
              <a:rPr lang="es-ES" b="0" noProof="0" dirty="0"/>
              <a:t> 1.55 µm, </a:t>
            </a:r>
            <a:r>
              <a:rPr lang="es-ES" b="0" noProof="0" dirty="0" err="1"/>
              <a:t>width</a:t>
            </a:r>
            <a:r>
              <a:rPr lang="es-ES" b="0" noProof="0" dirty="0"/>
              <a:t> 1.0 µm, gap </a:t>
            </a:r>
            <a:r>
              <a:rPr lang="es-ES" b="0" noProof="0" dirty="0" err="1"/>
              <a:t>to</a:t>
            </a:r>
            <a:r>
              <a:rPr lang="es-ES" b="0" noProof="0" dirty="0"/>
              <a:t> be </a:t>
            </a:r>
            <a:r>
              <a:rPr lang="es-ES" b="0" noProof="0" dirty="0" err="1"/>
              <a:t>found</a:t>
            </a:r>
            <a:r>
              <a:rPr lang="es-ES" b="0" noProof="0" dirty="0"/>
              <a:t> </a:t>
            </a:r>
            <a:r>
              <a:rPr lang="es-ES" b="0" noProof="0" dirty="0" err="1"/>
              <a:t>for</a:t>
            </a:r>
            <a:r>
              <a:rPr lang="es-ES" b="0" noProof="0" dirty="0"/>
              <a:t> </a:t>
            </a:r>
            <a:r>
              <a:rPr lang="es-ES" b="0" noProof="0" dirty="0" err="1"/>
              <a:t>uncoupled</a:t>
            </a:r>
            <a:r>
              <a:rPr lang="es-ES" b="0" noProof="0" dirty="0"/>
              <a:t> </a:t>
            </a:r>
            <a:r>
              <a:rPr lang="es-ES" b="0" noProof="0" dirty="0" err="1"/>
              <a:t>wvgs</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noProof="0" smtClean="0"/>
              <a:t>9</a:t>
            </a:fld>
            <a:endParaRPr lang="es-ES" noProof="0" dirty="0"/>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s-ES" sz="1200" b="1" noProof="0" dirty="0" err="1">
                <a:latin typeface="Arial" panose="020B0604020202020204" pitchFamily="34" charset="0"/>
                <a:cs typeface="Arial" panose="020B0604020202020204" pitchFamily="34" charset="0"/>
              </a:rPr>
              <a:t>Hints</a:t>
            </a:r>
            <a:r>
              <a:rPr lang="es-ES" sz="1200" b="1" noProof="0" dirty="0">
                <a:latin typeface="Arial" panose="020B0604020202020204" pitchFamily="34" charset="0"/>
                <a:cs typeface="Arial" panose="020B0604020202020204" pitchFamily="34" charset="0"/>
              </a:rPr>
              <a:t>:</a:t>
            </a:r>
          </a:p>
          <a:p>
            <a:pPr algn="just"/>
            <a:r>
              <a:rPr lang="es-ES" sz="1200" noProof="0" dirty="0" err="1">
                <a:latin typeface="Arial" panose="020B0604020202020204" pitchFamily="34" charset="0"/>
                <a:cs typeface="Arial" panose="020B0604020202020204" pitchFamily="34" charset="0"/>
              </a:rPr>
              <a:t>All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waveguides</a:t>
            </a:r>
            <a:r>
              <a:rPr lang="es-ES" sz="1200" noProof="0" dirty="0">
                <a:latin typeface="Arial" panose="020B0604020202020204" pitchFamily="34" charset="0"/>
                <a:cs typeface="Arial" panose="020B0604020202020204" pitchFamily="34" charset="0"/>
              </a:rPr>
              <a:t> running in </a:t>
            </a:r>
            <a:r>
              <a:rPr lang="es-ES" sz="1200" noProof="0" dirty="0" err="1">
                <a:latin typeface="Arial" panose="020B0604020202020204" pitchFamily="34" charset="0"/>
                <a:cs typeface="Arial" panose="020B0604020202020204" pitchFamily="34" charset="0"/>
              </a:rPr>
              <a:t>parallel</a:t>
            </a:r>
            <a:r>
              <a:rPr lang="es-ES" sz="1200" noProof="0" dirty="0">
                <a:latin typeface="Arial" panose="020B0604020202020204" pitchFamily="34" charset="0"/>
                <a:cs typeface="Arial" panose="020B0604020202020204" pitchFamily="34" charset="0"/>
              </a:rPr>
              <a:t> are </a:t>
            </a:r>
            <a:r>
              <a:rPr lang="es-ES" sz="1200" noProof="0" dirty="0" err="1">
                <a:latin typeface="Arial" panose="020B0604020202020204" pitchFamily="34" charset="0"/>
                <a:cs typeface="Arial" panose="020B0604020202020204" pitchFamily="34" charset="0"/>
              </a:rPr>
              <a:t>coupled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somehow</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Controlling</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degree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of</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coupling</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key</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for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those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waveguides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you</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don’t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coupling</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over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certain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level</a:t>
            </a:r>
            <a:r>
              <a:rPr lang="es-ES" sz="1200" noProof="0" dirty="0">
                <a:latin typeface="Arial" panose="020B0604020202020204" pitchFamily="34" charset="0"/>
                <a:cs typeface="Arial" panose="020B0604020202020204" pitchFamily="34" charset="0"/>
              </a:rPr>
              <a:t> (i.e. </a:t>
            </a:r>
            <a:r>
              <a:rPr lang="es-ES" sz="1200" noProof="0" dirty="0" err="1">
                <a:latin typeface="Arial" panose="020B0604020202020204" pitchFamily="34" charset="0"/>
                <a:cs typeface="Arial" panose="020B0604020202020204" pitchFamily="34" charset="0"/>
              </a:rPr>
              <a:t>uncoupled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waveguides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Uncoupled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waveguide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definition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will</a:t>
            </a:r>
            <a:r>
              <a:rPr lang="es-ES" sz="1200" noProof="0" dirty="0">
                <a:latin typeface="Arial" panose="020B0604020202020204" pitchFamily="34" charset="0"/>
                <a:cs typeface="Arial" panose="020B0604020202020204" pitchFamily="34" charset="0"/>
              </a:rPr>
              <a:t> use K&lt;0.01. </a:t>
            </a:r>
            <a:r>
              <a:rPr lang="es-ES" sz="1200" noProof="0" dirty="0" err="1">
                <a:latin typeface="Arial" panose="020B0604020202020204" pitchFamily="34" charset="0"/>
                <a:cs typeface="Arial" panose="020B0604020202020204" pitchFamily="34" charset="0"/>
              </a:rPr>
              <a:t>Parallel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waveguide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length</a:t>
            </a:r>
            <a:r>
              <a:rPr lang="es-ES" sz="1200" noProof="0" dirty="0">
                <a:latin typeface="Arial" panose="020B0604020202020204" pitchFamily="34" charset="0"/>
                <a:cs typeface="Arial" panose="020B0604020202020204" pitchFamily="34" charset="0"/>
              </a:rPr>
              <a:t> = 10 mm (</a:t>
            </a:r>
            <a:r>
              <a:rPr lang="es-ES" sz="1200" noProof="0" dirty="0" err="1">
                <a:latin typeface="Arial" panose="020B0604020202020204" pitchFamily="34" charset="0"/>
                <a:cs typeface="Arial" panose="020B0604020202020204" pitchFamily="34" charset="0"/>
              </a:rPr>
              <a:t>typical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length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of</a:t>
            </a:r>
            <a:r>
              <a:rPr lang="es-ES" sz="1200" noProof="0" dirty="0">
                <a:latin typeface="Arial" panose="020B0604020202020204" pitchFamily="34" charset="0"/>
                <a:cs typeface="Arial" panose="020B0604020202020204" pitchFamily="34" charset="0"/>
              </a:rPr>
              <a:t> a chip). Find </a:t>
            </a:r>
            <a:r>
              <a:rPr lang="es-ES" sz="1200" noProof="0" dirty="0" err="1">
                <a:latin typeface="Arial" panose="020B0604020202020204" pitchFamily="34" charset="0"/>
                <a:cs typeface="Arial" panose="020B0604020202020204" pitchFamily="34" charset="0"/>
              </a:rPr>
              <a:t>minimum</a:t>
            </a:r>
            <a:r>
              <a:rPr lang="es-ES" sz="1200" noProof="0" dirty="0">
                <a:latin typeface="Arial" panose="020B0604020202020204" pitchFamily="34" charset="0"/>
                <a:cs typeface="Arial" panose="020B0604020202020204" pitchFamily="34" charset="0"/>
              </a:rPr>
              <a:t> gap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 </a:t>
            </a:r>
            <a:r>
              <a:rPr lang="es-ES" sz="1200" noProof="0" dirty="0" err="1">
                <a:latin typeface="Arial" panose="020B0604020202020204" pitchFamily="34" charset="0"/>
                <a:cs typeface="Arial" panose="020B0604020202020204" pitchFamily="34" charset="0"/>
              </a:rPr>
              <a:t>deep</a:t>
            </a:r>
            <a:r>
              <a:rPr lang="es-ES" sz="1200" noProof="0" dirty="0">
                <a:latin typeface="Arial" panose="020B0604020202020204" pitchFamily="34" charset="0"/>
                <a:cs typeface="Arial" panose="020B0604020202020204" pitchFamily="34" charset="0"/>
              </a:rPr>
              <a:t> w=1.0µm </a:t>
            </a:r>
            <a:r>
              <a:rPr lang="es-ES" sz="1200" noProof="0" dirty="0" err="1">
                <a:latin typeface="Arial" panose="020B0604020202020204" pitchFamily="34" charset="0"/>
                <a:cs typeface="Arial" panose="020B0604020202020204" pitchFamily="34" charset="0"/>
              </a:rPr>
              <a:t>wvl</a:t>
            </a:r>
            <a:r>
              <a:rPr lang="es-ES" sz="1200" noProof="0" dirty="0">
                <a:latin typeface="Arial" panose="020B0604020202020204" pitchFamily="34" charset="0"/>
                <a:cs typeface="Arial" panose="020B0604020202020204" pitchFamily="34" charset="0"/>
              </a:rPr>
              <a:t> 1.55 µm.</a:t>
            </a: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a:t>
                </a:r>
                <a14:m>
                  <m:oMath xmlns:m="http://schemas.openxmlformats.org/officeDocument/2006/math">
                    <m:r>
                      <a:rPr lang="es-ES" b="0" i="1" noProof="0" smtClean="0">
                        <a:latin typeface="Cambria Math" panose="02040503050406030204" pitchFamily="18" charset="0"/>
                      </a:rPr>
                      <m:t>𝐾</m:t>
                    </m:r>
                  </m:oMath>
                </a14:m>
                <a:r>
                  <a:rPr lang="es-ES" noProof="0" dirty="0"/>
                  <a:t> vs gap </a:t>
                </a:r>
                <a:r>
                  <a:rPr lang="es-ES" noProof="0" dirty="0" err="1"/>
                  <a:t>for</a:t>
                </a:r>
                <a:r>
                  <a:rPr lang="es-ES" noProof="0" dirty="0"/>
                  <a:t> 10 mm </a:t>
                </a:r>
                <a:r>
                  <a:rPr lang="es-ES" noProof="0" dirty="0" err="1"/>
                  <a:t>wvgs</a:t>
                </a:r>
                <a:r>
                  <a:rPr lang="es-ES" noProof="0" dirty="0"/>
                  <a:t> </a:t>
                </a:r>
                <a:r>
                  <a:rPr lang="es-ES" noProof="0" dirty="0" err="1"/>
                  <a:t>to</a:t>
                </a:r>
                <a:r>
                  <a:rPr lang="es-ES" noProof="0" dirty="0"/>
                  <a:t> be </a:t>
                </a:r>
                <a:r>
                  <a:rPr lang="es-ES" noProof="0" dirty="0" err="1"/>
                  <a:t>uncoupled</a:t>
                </a:r>
                <a:endParaRPr lang="es-ES" noProof="0" dirty="0"/>
              </a:p>
              <a:p>
                <a:pPr algn="ctr"/>
                <a:endParaRPr lang="es-ES" noProof="0" dirty="0"/>
              </a:p>
            </p:txBody>
          </p:sp>
        </mc:Choice>
        <mc:Fallback>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4"/>
                <a:stretch>
                  <a:fillRect t="-2479"/>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s-ES" b="1" noProof="0" dirty="0" err="1"/>
                  <a:t>shallow</a:t>
                </a:r>
                <a:r>
                  <a:rPr lang="es-ES" noProof="0" dirty="0"/>
                  <a:t> </a:t>
                </a:r>
                <a:r>
                  <a:rPr lang="es-ES" noProof="0" dirty="0" err="1"/>
                  <a:t>waveguide</a:t>
                </a:r>
                <a:endParaRPr lang="es-ES" noProof="0" dirty="0"/>
              </a:p>
              <a:p>
                <a:pPr algn="ctr"/>
                <a:r>
                  <a:rPr lang="es-ES" noProof="0" dirty="0" err="1"/>
                  <a:t>slab_thickness</a:t>
                </a:r>
                <a:r>
                  <a:rPr lang="es-ES" noProof="0" dirty="0"/>
                  <a:t> = 150 nm</a:t>
                </a:r>
              </a:p>
              <a:p>
                <a:pPr algn="ctr"/>
                <a:endParaRPr lang="es-ES" noProof="0" dirty="0"/>
              </a:p>
              <a:p>
                <a:pPr algn="ctr"/>
                <a:r>
                  <a:rPr lang="es-ES" noProof="0" dirty="0"/>
                  <a:t>Paste </a:t>
                </a:r>
                <a14:m>
                  <m:oMath xmlns:m="http://schemas.openxmlformats.org/officeDocument/2006/math">
                    <m:r>
                      <a:rPr lang="es-ES" i="1" noProof="0">
                        <a:latin typeface="Cambria Math" panose="02040503050406030204" pitchFamily="18" charset="0"/>
                      </a:rPr>
                      <m:t>𝐾</m:t>
                    </m:r>
                  </m:oMath>
                </a14:m>
                <a:r>
                  <a:rPr lang="es-ES" noProof="0" dirty="0"/>
                  <a:t> vs gap </a:t>
                </a:r>
                <a:r>
                  <a:rPr lang="es-ES" noProof="0" dirty="0" err="1"/>
                  <a:t>for</a:t>
                </a:r>
                <a:r>
                  <a:rPr lang="es-ES" noProof="0" dirty="0"/>
                  <a:t> 10 mm </a:t>
                </a:r>
                <a:r>
                  <a:rPr lang="es-ES" noProof="0" dirty="0" err="1"/>
                  <a:t>wvgs</a:t>
                </a:r>
                <a:r>
                  <a:rPr lang="es-ES" noProof="0" dirty="0"/>
                  <a:t> </a:t>
                </a:r>
                <a:r>
                  <a:rPr lang="es-ES" noProof="0" dirty="0" err="1"/>
                  <a:t>to</a:t>
                </a:r>
                <a:r>
                  <a:rPr lang="es-ES" noProof="0" dirty="0"/>
                  <a:t> be </a:t>
                </a:r>
                <a:r>
                  <a:rPr lang="es-ES" noProof="0" dirty="0" err="1"/>
                  <a:t>uncoupled</a:t>
                </a:r>
                <a:endParaRPr lang="es-ES" noProof="0" dirty="0"/>
              </a:p>
            </p:txBody>
          </p:sp>
        </mc:Choice>
        <mc:Fallback>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5"/>
                <a:stretch>
                  <a:fillRect t="-2479" b="-5785"/>
                </a:stretch>
              </a:blipFill>
            </p:spPr>
            <p:txBody>
              <a:bodyPr/>
              <a:lstStyle/>
              <a:p>
                <a:r>
                  <a:rPr lang="es-ES">
                    <a:noFill/>
                  </a:rPr>
                  <a:t> </a:t>
                </a:r>
              </a:p>
            </p:txBody>
          </p:sp>
        </mc:Fallback>
      </mc:AlternateContent>
      <p:pic>
        <p:nvPicPr>
          <p:cNvPr id="7" name="Picture 6">
            <a:extLst>
              <a:ext uri="{FF2B5EF4-FFF2-40B4-BE49-F238E27FC236}">
                <a16:creationId xmlns:a16="http://schemas.microsoft.com/office/drawing/2014/main" id="{7D689881-C463-A200-5649-9FC4CB3F64F1}"/>
              </a:ext>
            </a:extLst>
          </p:cNvPr>
          <p:cNvPicPr>
            <a:picLocks noChangeAspect="1"/>
          </p:cNvPicPr>
          <p:nvPr/>
        </p:nvPicPr>
        <p:blipFill>
          <a:blip r:embed="rId6"/>
          <a:stretch>
            <a:fillRect/>
          </a:stretch>
        </p:blipFill>
        <p:spPr>
          <a:xfrm>
            <a:off x="6898058" y="1272276"/>
            <a:ext cx="4333288" cy="2875860"/>
          </a:xfrm>
          <a:prstGeom prst="rect">
            <a:avLst/>
          </a:prstGeom>
        </p:spPr>
      </p:pic>
      <p:pic>
        <p:nvPicPr>
          <p:cNvPr id="13" name="Picture 12">
            <a:extLst>
              <a:ext uri="{FF2B5EF4-FFF2-40B4-BE49-F238E27FC236}">
                <a16:creationId xmlns:a16="http://schemas.microsoft.com/office/drawing/2014/main" id="{0D85750D-1E0F-E29C-D10E-B9B0985F32C6}"/>
              </a:ext>
            </a:extLst>
          </p:cNvPr>
          <p:cNvPicPr>
            <a:picLocks noChangeAspect="1"/>
          </p:cNvPicPr>
          <p:nvPr/>
        </p:nvPicPr>
        <p:blipFill>
          <a:blip r:embed="rId7"/>
          <a:stretch>
            <a:fillRect/>
          </a:stretch>
        </p:blipFill>
        <p:spPr>
          <a:xfrm>
            <a:off x="6431006" y="4138460"/>
            <a:ext cx="5267393" cy="318530"/>
          </a:xfrm>
          <a:prstGeom prst="rect">
            <a:avLst/>
          </a:prstGeom>
        </p:spPr>
      </p:pic>
      <p:pic>
        <p:nvPicPr>
          <p:cNvPr id="15" name="Picture 14">
            <a:extLst>
              <a:ext uri="{FF2B5EF4-FFF2-40B4-BE49-F238E27FC236}">
                <a16:creationId xmlns:a16="http://schemas.microsoft.com/office/drawing/2014/main" id="{6BE6702C-224A-42B3-5927-DC9B14C04B4C}"/>
              </a:ext>
            </a:extLst>
          </p:cNvPr>
          <p:cNvPicPr>
            <a:picLocks noChangeAspect="1"/>
          </p:cNvPicPr>
          <p:nvPr/>
        </p:nvPicPr>
        <p:blipFill>
          <a:blip r:embed="rId8"/>
          <a:stretch>
            <a:fillRect/>
          </a:stretch>
        </p:blipFill>
        <p:spPr>
          <a:xfrm>
            <a:off x="1198152" y="1272276"/>
            <a:ext cx="4333288" cy="2875860"/>
          </a:xfrm>
          <a:prstGeom prst="rect">
            <a:avLst/>
          </a:prstGeom>
        </p:spPr>
      </p:pic>
      <p:pic>
        <p:nvPicPr>
          <p:cNvPr id="18" name="Picture 17">
            <a:extLst>
              <a:ext uri="{FF2B5EF4-FFF2-40B4-BE49-F238E27FC236}">
                <a16:creationId xmlns:a16="http://schemas.microsoft.com/office/drawing/2014/main" id="{742809EF-CAF7-CEA7-C8E6-936C24554FEB}"/>
              </a:ext>
            </a:extLst>
          </p:cNvPr>
          <p:cNvPicPr>
            <a:picLocks noChangeAspect="1"/>
          </p:cNvPicPr>
          <p:nvPr/>
        </p:nvPicPr>
        <p:blipFill>
          <a:blip r:embed="rId9"/>
          <a:stretch>
            <a:fillRect/>
          </a:stretch>
        </p:blipFill>
        <p:spPr>
          <a:xfrm>
            <a:off x="1198152" y="4107249"/>
            <a:ext cx="4546635" cy="34974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noProof="0" smtClean="0"/>
              <a:t>10</a:t>
            </a:fld>
            <a:endParaRPr lang="es-ES" noProof="0" dirty="0"/>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s-ES" sz="2800" b="1" noProof="0" dirty="0" err="1">
                <a:effectLst>
                  <a:outerShdw blurRad="38100" dist="38100" dir="2700000" algn="tl">
                    <a:srgbClr val="000000">
                      <a:alpha val="43137"/>
                    </a:srgbClr>
                  </a:outerShdw>
                </a:effectLst>
              </a:rPr>
              <a:t>Multimode</a:t>
            </a:r>
            <a:r>
              <a:rPr lang="es-ES" sz="2800" b="1" noProof="0" dirty="0">
                <a:effectLst>
                  <a:outerShdw blurRad="38100" dist="38100" dir="2700000" algn="tl">
                    <a:srgbClr val="000000">
                      <a:alpha val="43137"/>
                    </a:srgbClr>
                  </a:outerShdw>
                </a:effectLst>
              </a:rPr>
              <a:t> </a:t>
            </a:r>
            <a:r>
              <a:rPr lang="es-ES" sz="2800" b="1" noProof="0" dirty="0" err="1">
                <a:effectLst>
                  <a:outerShdw blurRad="38100" dist="38100" dir="2700000" algn="tl">
                    <a:srgbClr val="000000">
                      <a:alpha val="43137"/>
                    </a:srgbClr>
                  </a:outerShdw>
                </a:effectLst>
              </a:rPr>
              <a:t>Interferometer</a:t>
            </a:r>
            <a:r>
              <a:rPr lang="es-ES" sz="2800" b="1" noProof="0" dirty="0">
                <a:effectLst>
                  <a:outerShdw blurRad="38100" dist="38100" dir="2700000" algn="tl">
                    <a:srgbClr val="000000">
                      <a:alpha val="43137"/>
                    </a:srgbClr>
                  </a:outerShdw>
                </a:effectLst>
              </a:rPr>
              <a:t> (MMI) </a:t>
            </a:r>
            <a:r>
              <a:rPr lang="es-ES" sz="2800" b="1" noProof="0" dirty="0" err="1">
                <a:effectLst>
                  <a:outerShdw blurRad="38100" dist="38100" dir="2700000" algn="tl">
                    <a:srgbClr val="000000">
                      <a:alpha val="43137"/>
                    </a:srgbClr>
                  </a:outerShdw>
                </a:effectLst>
              </a:rPr>
              <a:t>Coupler</a:t>
            </a:r>
            <a:endParaRPr lang="es-ES" sz="2800" b="1" noProof="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733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#5 – </a:t>
            </a:r>
            <a:r>
              <a:rPr lang="es-ES" sz="2500" noProof="0" dirty="0" err="1"/>
              <a:t>Multimode</a:t>
            </a:r>
            <a:r>
              <a:rPr lang="es-ES" sz="2500" noProof="0" dirty="0"/>
              <a:t> </a:t>
            </a:r>
            <a:r>
              <a:rPr lang="es-ES" sz="2500" noProof="0" dirty="0" err="1"/>
              <a:t>Interference</a:t>
            </a:r>
            <a:r>
              <a:rPr lang="es-ES" sz="2500" noProof="0" dirty="0"/>
              <a:t> (MMI) </a:t>
            </a:r>
            <a:r>
              <a:rPr lang="es-ES" sz="2500" noProof="0" dirty="0" err="1"/>
              <a:t>Coupler</a:t>
            </a:r>
            <a:r>
              <a:rPr lang="es-ES" sz="2500" noProof="0" dirty="0"/>
              <a:t> </a:t>
            </a:r>
            <a:r>
              <a:rPr lang="es-ES" sz="2500" noProof="0" dirty="0" err="1"/>
              <a:t>cross-section</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11</a:t>
            </a:fld>
            <a:endParaRPr lang="es-ES" noProof="0" dirty="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dirty="0"/>
              <a:t>LAB 2.0. COUPLERS</a:t>
            </a:r>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sz="2000" b="1" noProof="0" dirty="0"/>
                  <a:t>INSTRUCTOR:</a:t>
                </a:r>
              </a:p>
              <a:p>
                <a:pPr marL="342900" indent="-342900" algn="just">
                  <a:buFont typeface="Arial" panose="020B0604020202020204" pitchFamily="34" charset="0"/>
                  <a:buChar char="•"/>
                </a:pPr>
                <a:r>
                  <a:rPr lang="es-ES" sz="2000" noProof="0" dirty="0"/>
                  <a:t>Present Python and </a:t>
                </a:r>
                <a:r>
                  <a:rPr lang="es-ES" sz="2000" noProof="0" dirty="0" err="1"/>
                  <a:t>GDSFactory</a:t>
                </a:r>
                <a:r>
                  <a:rPr lang="es-ES" sz="2000" noProof="0" dirty="0"/>
                  <a:t> </a:t>
                </a:r>
                <a:r>
                  <a:rPr lang="es-ES" sz="2000" noProof="0" dirty="0" err="1"/>
                  <a:t>implementation</a:t>
                </a:r>
                <a:r>
                  <a:rPr lang="es-ES" sz="2000" noProof="0" dirty="0"/>
                  <a:t> </a:t>
                </a:r>
                <a:r>
                  <a:rPr lang="es-ES" sz="2000" noProof="0" dirty="0" err="1"/>
                  <a:t>of</a:t>
                </a:r>
                <a:r>
                  <a:rPr lang="es-ES" sz="2000" noProof="0" dirty="0"/>
                  <a:t> DC </a:t>
                </a:r>
                <a:r>
                  <a:rPr lang="es-ES" sz="2000" noProof="0" dirty="0" err="1"/>
                  <a:t>cross-section</a:t>
                </a:r>
                <a:endParaRPr lang="es-ES" sz="2000" noProof="0" dirty="0"/>
              </a:p>
              <a:p>
                <a:pPr marL="342900" indent="-342900" algn="just">
                  <a:buFont typeface="Arial" panose="020B0604020202020204" pitchFamily="34" charset="0"/>
                  <a:buChar char="•"/>
                </a:pPr>
                <a:r>
                  <a:rPr lang="es-ES" sz="2000" noProof="0" dirty="0"/>
                  <a:t>Describe </a:t>
                </a:r>
                <a:r>
                  <a:rPr lang="es-ES" sz="2000" noProof="0" dirty="0" err="1"/>
                  <a:t>how</a:t>
                </a:r>
                <a:r>
                  <a:rPr lang="es-ES" sz="2000" noProof="0" dirty="0"/>
                  <a:t> </a:t>
                </a:r>
                <a:r>
                  <a:rPr lang="es-ES" sz="2000" noProof="0" dirty="0" err="1"/>
                  <a:t>to</a:t>
                </a:r>
                <a:r>
                  <a:rPr lang="es-ES" sz="2000" noProof="0" dirty="0"/>
                  <a:t> </a:t>
                </a:r>
                <a:r>
                  <a:rPr lang="es-ES" sz="2000" noProof="0" dirty="0" err="1"/>
                  <a:t>obtain</a:t>
                </a:r>
                <a:r>
                  <a:rPr lang="es-ES" sz="2000" noProof="0" dirty="0"/>
                  <a:t> </a:t>
                </a:r>
                <a:r>
                  <a:rPr lang="es-ES" sz="2000" noProof="0" dirty="0" err="1"/>
                  <a:t>the</a:t>
                </a:r>
                <a:r>
                  <a:rPr lang="es-ES" sz="2000" noProof="0" dirty="0"/>
                  <a:t> </a:t>
                </a:r>
                <a:r>
                  <a:rPr lang="es-ES" sz="2000" noProof="0" dirty="0" err="1"/>
                  <a:t>length</a:t>
                </a:r>
                <a:r>
                  <a:rPr lang="es-ES" sz="2000" noProof="0" dirty="0"/>
                  <a:t> </a:t>
                </a:r>
                <a14:m>
                  <m:oMath xmlns:m="http://schemas.openxmlformats.org/officeDocument/2006/math">
                    <m:sSub>
                      <m:sSubPr>
                        <m:ctrlPr>
                          <a:rPr lang="es-ES" sz="2000" b="0" i="1" noProof="0" smtClean="0">
                            <a:latin typeface="Cambria Math" panose="02040503050406030204" pitchFamily="18" charset="0"/>
                          </a:rPr>
                        </m:ctrlPr>
                      </m:sSubPr>
                      <m:e>
                        <m:r>
                          <a:rPr lang="es-ES" sz="2000" b="0" i="1" noProof="0" smtClean="0">
                            <a:latin typeface="Cambria Math" panose="02040503050406030204" pitchFamily="18" charset="0"/>
                          </a:rPr>
                          <m:t>𝐿</m:t>
                        </m:r>
                      </m:e>
                      <m:sub>
                        <m:r>
                          <a:rPr lang="es-ES" sz="2000" b="0" i="1" noProof="0" smtClean="0">
                            <a:latin typeface="Cambria Math" panose="02040503050406030204" pitchFamily="18" charset="0"/>
                          </a:rPr>
                          <m:t>𝜋</m:t>
                        </m:r>
                      </m:sub>
                    </m:sSub>
                  </m:oMath>
                </a14:m>
                <a:endParaRPr lang="es-ES" sz="2000" noProof="0" dirty="0"/>
              </a:p>
              <a:p>
                <a:pPr marL="342900" indent="-342900" algn="just">
                  <a:buFont typeface="Arial" panose="020B0604020202020204" pitchFamily="34" charset="0"/>
                  <a:buChar char="•"/>
                </a:pPr>
                <a:r>
                  <a:rPr lang="es-ES" sz="2000" noProof="0" dirty="0"/>
                  <a:t>Describe </a:t>
                </a:r>
                <a:r>
                  <a:rPr lang="es-ES" sz="2000" noProof="0" dirty="0" err="1"/>
                  <a:t>the</a:t>
                </a:r>
                <a:r>
                  <a:rPr lang="es-ES" sz="2000" noProof="0" dirty="0"/>
                  <a:t> outputs.</a:t>
                </a:r>
              </a:p>
              <a:p>
                <a:pPr marL="0" indent="0" algn="just">
                  <a:buNone/>
                </a:pPr>
                <a:r>
                  <a:rPr lang="es-ES" sz="2000" b="1" noProof="0" dirty="0"/>
                  <a:t>ALL EXAMPLE #2: </a:t>
                </a:r>
                <a:r>
                  <a:rPr lang="es-ES" sz="2000" noProof="0" dirty="0" err="1"/>
                  <a:t>waveguide</a:t>
                </a:r>
                <a:r>
                  <a:rPr lang="es-ES" sz="2000" noProof="0" dirty="0"/>
                  <a:t> </a:t>
                </a:r>
                <a:r>
                  <a:rPr lang="es-ES" sz="2000" noProof="0" dirty="0" err="1"/>
                  <a:t>width</a:t>
                </a:r>
                <a:r>
                  <a:rPr lang="es-ES" sz="2000" noProof="0" dirty="0"/>
                  <a:t> 12 µm, gap </a:t>
                </a:r>
                <a:r>
                  <a:rPr lang="es-ES" sz="2000" noProof="0" dirty="0" err="1"/>
                  <a:t>between</a:t>
                </a:r>
                <a:r>
                  <a:rPr lang="es-ES" sz="2000" noProof="0" dirty="0"/>
                  <a:t> </a:t>
                </a:r>
                <a:r>
                  <a:rPr lang="es-ES" sz="2000" noProof="0" dirty="0" err="1"/>
                  <a:t>waveguides</a:t>
                </a:r>
                <a:r>
                  <a:rPr lang="es-ES" sz="2000" noProof="0" dirty="0"/>
                  <a:t> 0.6 µm, </a:t>
                </a:r>
                <a:r>
                  <a:rPr lang="es-ES" sz="2000" noProof="0" dirty="0" err="1"/>
                  <a:t>deep</a:t>
                </a:r>
                <a:r>
                  <a:rPr lang="es-ES" sz="2000" noProof="0" dirty="0"/>
                  <a:t> </a:t>
                </a:r>
                <a:r>
                  <a:rPr lang="es-ES" sz="2000" noProof="0" dirty="0" err="1"/>
                  <a:t>wvg</a:t>
                </a:r>
                <a:r>
                  <a:rPr lang="es-ES" sz="2000" noProof="0" dirty="0"/>
                  <a:t>, </a:t>
                </a:r>
                <a:r>
                  <a:rPr lang="es-ES" sz="2000" noProof="0" dirty="0" err="1"/>
                  <a:t>wavelength</a:t>
                </a:r>
                <a:r>
                  <a:rPr lang="es-ES" sz="2000" noProof="0" dirty="0"/>
                  <a:t> </a:t>
                </a:r>
                <a:r>
                  <a:rPr lang="es-ES" sz="2000" noProof="0" dirty="0" err="1"/>
                  <a:t>start</a:t>
                </a:r>
                <a:r>
                  <a:rPr lang="es-ES" sz="2000" noProof="0" dirty="0"/>
                  <a:t> and </a:t>
                </a:r>
                <a:r>
                  <a:rPr lang="es-ES" sz="2000" noProof="0" dirty="0" err="1"/>
                  <a:t>end</a:t>
                </a:r>
                <a:r>
                  <a:rPr lang="es-ES" sz="2000" noProof="0" dirty="0"/>
                  <a:t> </a:t>
                </a:r>
                <a:r>
                  <a:rPr lang="es-ES" sz="2000" noProof="0" dirty="0" err="1"/>
                  <a:t>same</a:t>
                </a:r>
                <a:r>
                  <a:rPr lang="es-ES" sz="2000" noProof="0" dirty="0"/>
                  <a:t> 1.55 µm </a:t>
                </a:r>
                <a:r>
                  <a:rPr lang="es-ES" sz="2000" noProof="0" dirty="0">
                    <a:sym typeface="Wingdings" pitchFamily="2" charset="2"/>
                  </a:rPr>
                  <a:t> </a:t>
                </a:r>
                <a:r>
                  <a:rPr lang="es-ES" sz="2000" noProof="0" dirty="0" err="1">
                    <a:sym typeface="Wingdings" pitchFamily="2" charset="2"/>
                  </a:rPr>
                  <a:t>all</a:t>
                </a:r>
                <a:r>
                  <a:rPr lang="es-ES" sz="2000" noProof="0" dirty="0">
                    <a:sym typeface="Wingdings" pitchFamily="2" charset="2"/>
                  </a:rPr>
                  <a:t> ”Run”</a:t>
                </a:r>
                <a:endParaRPr lang="es-ES" sz="2000" noProof="0" dirty="0"/>
              </a:p>
              <a:p>
                <a:pPr marL="0" indent="0" algn="just">
                  <a:buNone/>
                </a:pPr>
                <a:r>
                  <a:rPr lang="es-ES" sz="2000" b="1" noProof="0" dirty="0"/>
                  <a:t>ALL: </a:t>
                </a:r>
                <a:r>
                  <a:rPr lang="es-ES" sz="2000" noProof="0" dirty="0" err="1"/>
                  <a:t>Follow</a:t>
                </a:r>
                <a:r>
                  <a:rPr lang="es-ES" sz="2000" b="1" noProof="0" dirty="0"/>
                  <a:t> </a:t>
                </a:r>
                <a:r>
                  <a:rPr lang="es-ES" sz="2000" noProof="0" dirty="0"/>
                  <a:t>instructor, </a:t>
                </a:r>
                <a:r>
                  <a:rPr lang="es-ES" sz="2000" noProof="0" dirty="0" err="1"/>
                  <a:t>that</a:t>
                </a:r>
                <a:r>
                  <a:rPr lang="es-ES" sz="2000" noProof="0" dirty="0"/>
                  <a:t> </a:t>
                </a:r>
                <a:r>
                  <a:rPr lang="es-ES" sz="2000" noProof="0" dirty="0" err="1"/>
                  <a:t>will</a:t>
                </a:r>
                <a:r>
                  <a:rPr lang="es-ES" sz="2000" noProof="0" dirty="0"/>
                  <a:t> show </a:t>
                </a:r>
                <a:r>
                  <a:rPr lang="es-ES" sz="2000" noProof="0" dirty="0" err="1"/>
                  <a:t>how</a:t>
                </a:r>
                <a:r>
                  <a:rPr lang="es-ES" sz="2000" noProof="0" dirty="0"/>
                  <a:t> </a:t>
                </a:r>
                <a:r>
                  <a:rPr lang="es-ES" sz="2000" noProof="0" dirty="0" err="1"/>
                  <a:t>to</a:t>
                </a:r>
                <a:r>
                  <a:rPr lang="es-ES" sz="2000" noProof="0" dirty="0"/>
                  <a:t> 1) </a:t>
                </a:r>
                <a:r>
                  <a:rPr lang="es-ES" sz="2000" noProof="0" dirty="0" err="1"/>
                  <a:t>plot</a:t>
                </a:r>
                <a:r>
                  <a:rPr lang="es-ES" sz="2000" noProof="0" dirty="0"/>
                  <a:t> </a:t>
                </a:r>
                <a:r>
                  <a:rPr lang="es-ES" sz="2000" noProof="0" dirty="0" err="1"/>
                  <a:t>mode</a:t>
                </a:r>
                <a:r>
                  <a:rPr lang="es-ES" sz="2000" noProof="0" dirty="0"/>
                  <a:t>, 2) explore </a:t>
                </a:r>
                <a:r>
                  <a:rPr lang="es-ES" sz="2000" noProof="0" dirty="0" err="1"/>
                  <a:t>the</a:t>
                </a:r>
                <a:r>
                  <a:rPr lang="es-ES" sz="2000" noProof="0" dirty="0"/>
                  <a:t> </a:t>
                </a:r>
                <a:r>
                  <a:rPr lang="es-ES" sz="2000" noProof="0" dirty="0" err="1"/>
                  <a:t>results</a:t>
                </a:r>
                <a:r>
                  <a:rPr lang="es-ES" sz="2000" noProof="0" dirty="0"/>
                  <a:t> (</a:t>
                </a:r>
                <a:r>
                  <a:rPr lang="es-ES" sz="2000" noProof="0" dirty="0" err="1"/>
                  <a:t>neff</a:t>
                </a:r>
                <a:r>
                  <a:rPr lang="es-ES" sz="2000" noProof="0" dirty="0"/>
                  <a:t> …)</a:t>
                </a:r>
              </a:p>
              <a:p>
                <a:pPr algn="just"/>
                <a:endParaRPr lang="es-ES" sz="2000" b="1" i="1" u="sng" noProof="0" dirty="0"/>
              </a:p>
              <a:p>
                <a:pPr algn="just"/>
                <a:endParaRPr lang="es-ES" sz="2000" kern="0" noProof="0" dirty="0">
                  <a:solidFill>
                    <a:sysClr val="windowText" lastClr="000000"/>
                  </a:solidFill>
                </a:endParaRPr>
              </a:p>
            </p:txBody>
          </p:sp>
        </mc:Choice>
        <mc:Fallback>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12494" y="3657600"/>
            <a:ext cx="11199971" cy="553998"/>
          </a:xfrm>
          <a:prstGeom prst="rect">
            <a:avLst/>
          </a:prstGeom>
          <a:solidFill>
            <a:schemeClr val="bg1">
              <a:lumMod val="95000"/>
            </a:schemeClr>
          </a:solidFill>
          <a:ln w="28575">
            <a:solidFill>
              <a:srgbClr val="E0700D"/>
            </a:solidFill>
          </a:ln>
        </p:spPr>
        <p:txBody>
          <a:bodyPr wrap="square" rtlCol="0">
            <a:spAutoFit/>
          </a:bodyPr>
          <a:lstStyle/>
          <a:p>
            <a:r>
              <a:rPr lang="es-ES" sz="1200" noProof="0" dirty="0">
                <a:latin typeface="Arial" panose="020B0604020202020204" pitchFamily="34" charset="0"/>
                <a:cs typeface="Arial" panose="020B0604020202020204" pitchFamily="34" charset="0"/>
              </a:rPr>
              <a:t>Para obtener </a:t>
            </a:r>
            <a:r>
              <a:rPr lang="es-ES" sz="1200" noProof="0" dirty="0" err="1">
                <a:latin typeface="Arial" panose="020B0604020202020204" pitchFamily="34" charset="0"/>
                <a:cs typeface="Arial" panose="020B0604020202020204" pitchFamily="34" charset="0"/>
              </a:rPr>
              <a:t>L_pi</a:t>
            </a:r>
            <a:r>
              <a:rPr lang="es-ES" sz="1200" noProof="0" dirty="0">
                <a:latin typeface="Arial" panose="020B0604020202020204" pitchFamily="34" charset="0"/>
                <a:cs typeface="Arial" panose="020B0604020202020204" pitchFamily="34" charset="0"/>
              </a:rPr>
              <a:t>, debemos de solucionar la ecuación </a:t>
            </a:r>
            <a:r>
              <a:rPr lang="es-ES" noProof="0" dirty="0" err="1"/>
              <a:t>L_pi</a:t>
            </a:r>
            <a:r>
              <a:rPr lang="es-ES" noProof="0" dirty="0"/>
              <a:t> = 0.5*</a:t>
            </a:r>
            <a:r>
              <a:rPr lang="es-ES" noProof="0" dirty="0" err="1"/>
              <a:t>lambda_c</a:t>
            </a:r>
            <a:r>
              <a:rPr lang="es-ES" noProof="0" dirty="0"/>
              <a:t>/(</a:t>
            </a:r>
            <a:r>
              <a:rPr lang="es-ES" noProof="0" dirty="0" err="1"/>
              <a:t>d_n_eff</a:t>
            </a:r>
            <a:r>
              <a:rPr lang="es-ES" noProof="0" dirty="0"/>
              <a:t>)</a:t>
            </a:r>
            <a:r>
              <a:rPr lang="es-ES" sz="1200" noProof="0" dirty="0">
                <a:latin typeface="Arial" panose="020B0604020202020204" pitchFamily="34" charset="0"/>
                <a:cs typeface="Arial" panose="020B0604020202020204" pitchFamily="34" charset="0"/>
              </a:rPr>
              <a:t>, donde </a:t>
            </a:r>
            <a:r>
              <a:rPr lang="es-ES" sz="1200" noProof="0" dirty="0" err="1">
                <a:latin typeface="Arial" panose="020B0604020202020204" pitchFamily="34" charset="0"/>
                <a:cs typeface="Arial" panose="020B0604020202020204" pitchFamily="34" charset="0"/>
              </a:rPr>
              <a:t>d_n_eff</a:t>
            </a:r>
            <a:r>
              <a:rPr lang="es-ES" sz="1200" noProof="0" dirty="0">
                <a:latin typeface="Arial" panose="020B0604020202020204" pitchFamily="34" charset="0"/>
                <a:cs typeface="Arial" panose="020B0604020202020204" pitchFamily="34" charset="0"/>
              </a:rPr>
              <a:t> es la resta del primer coeficiente efectivo del primer modo </a:t>
            </a:r>
            <a:r>
              <a:rPr lang="es-ES" sz="1200" noProof="0" dirty="0" err="1">
                <a:latin typeface="Arial" panose="020B0604020202020204" pitchFamily="34" charset="0"/>
                <a:cs typeface="Arial" panose="020B0604020202020204" pitchFamily="34" charset="0"/>
              </a:rPr>
              <a:t>com</a:t>
            </a:r>
            <a:r>
              <a:rPr lang="es-ES" sz="1200" noProof="0" dirty="0">
                <a:latin typeface="Arial" panose="020B0604020202020204" pitchFamily="34" charset="0"/>
                <a:cs typeface="Arial" panose="020B0604020202020204" pitchFamily="34" charset="0"/>
              </a:rPr>
              <a:t> el del segundo. En el caso del modo TE sería el modo 0 menos el modo 1.</a:t>
            </a:r>
            <a:endParaRPr lang="es-ES" noProof="0" dirty="0"/>
          </a:p>
        </p:txBody>
      </p:sp>
    </p:spTree>
    <p:extLst>
      <p:ext uri="{BB962C8B-B14F-4D97-AF65-F5344CB8AC3E}">
        <p14:creationId xmlns:p14="http://schemas.microsoft.com/office/powerpoint/2010/main" val="180245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79A3B1D-B748-015F-B1C2-5DB729A64EC8}"/>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5" name="Slide Number Placeholder 4">
            <a:extLst>
              <a:ext uri="{FF2B5EF4-FFF2-40B4-BE49-F238E27FC236}">
                <a16:creationId xmlns:a16="http://schemas.microsoft.com/office/drawing/2014/main" id="{B84FE9BB-7607-D328-A80A-26AE3652ADC7}"/>
              </a:ext>
            </a:extLst>
          </p:cNvPr>
          <p:cNvSpPr>
            <a:spLocks noGrp="1"/>
          </p:cNvSpPr>
          <p:nvPr>
            <p:ph type="sldNum" sz="quarter" idx="7"/>
          </p:nvPr>
        </p:nvSpPr>
        <p:spPr/>
        <p:txBody>
          <a:bodyPr/>
          <a:lstStyle/>
          <a:p>
            <a:fld id="{B6F15528-21DE-4FAA-801E-634DDDAF4B2B}" type="slidenum">
              <a:rPr lang="es-ES" noProof="0" smtClean="0"/>
              <a:t>12</a:t>
            </a:fld>
            <a:endParaRPr lang="es-ES" noProof="0" dirty="0"/>
          </a:p>
        </p:txBody>
      </p:sp>
      <p:sp>
        <p:nvSpPr>
          <p:cNvPr id="6" name="object 16">
            <a:extLst>
              <a:ext uri="{FF2B5EF4-FFF2-40B4-BE49-F238E27FC236}">
                <a16:creationId xmlns:a16="http://schemas.microsoft.com/office/drawing/2014/main" id="{825CFA8D-2719-0CEA-74E5-39B78F1F1C1E}"/>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#5 – </a:t>
            </a:r>
            <a:r>
              <a:rPr lang="es-ES" sz="2500" noProof="0" dirty="0" err="1"/>
              <a:t>Multimode</a:t>
            </a:r>
            <a:r>
              <a:rPr lang="es-ES" sz="2500" noProof="0" dirty="0"/>
              <a:t> </a:t>
            </a:r>
            <a:r>
              <a:rPr lang="es-ES" sz="2500" noProof="0" dirty="0" err="1"/>
              <a:t>Interference</a:t>
            </a:r>
            <a:r>
              <a:rPr lang="es-ES" sz="2500" noProof="0" dirty="0"/>
              <a:t> (MMI) </a:t>
            </a:r>
            <a:r>
              <a:rPr lang="es-ES" sz="2500" noProof="0" dirty="0" err="1"/>
              <a:t>Coupler</a:t>
            </a:r>
            <a:r>
              <a:rPr lang="es-ES" sz="2500" noProof="0" dirty="0"/>
              <a:t> </a:t>
            </a:r>
            <a:r>
              <a:rPr lang="es-ES" sz="2500" noProof="0" dirty="0" err="1"/>
              <a:t>cross-section</a:t>
            </a:r>
            <a:endParaRPr lang="es-ES" sz="2500" b="0" noProof="0" dirty="0">
              <a:latin typeface="+mj-lt"/>
              <a:cs typeface="Lucida Sans"/>
            </a:endParaRPr>
          </a:p>
        </p:txBody>
      </p:sp>
      <p:pic>
        <p:nvPicPr>
          <p:cNvPr id="8" name="Picture 7">
            <a:extLst>
              <a:ext uri="{FF2B5EF4-FFF2-40B4-BE49-F238E27FC236}">
                <a16:creationId xmlns:a16="http://schemas.microsoft.com/office/drawing/2014/main" id="{8A5186D6-C81A-25E3-2E71-A3D2707C7350}"/>
              </a:ext>
            </a:extLst>
          </p:cNvPr>
          <p:cNvPicPr>
            <a:picLocks noChangeAspect="1"/>
          </p:cNvPicPr>
          <p:nvPr/>
        </p:nvPicPr>
        <p:blipFill>
          <a:blip r:embed="rId2"/>
          <a:stretch>
            <a:fillRect/>
          </a:stretch>
        </p:blipFill>
        <p:spPr>
          <a:xfrm>
            <a:off x="768190" y="1447800"/>
            <a:ext cx="3320909" cy="2370337"/>
          </a:xfrm>
          <a:prstGeom prst="rect">
            <a:avLst/>
          </a:prstGeom>
        </p:spPr>
      </p:pic>
      <p:pic>
        <p:nvPicPr>
          <p:cNvPr id="10" name="Picture 9">
            <a:extLst>
              <a:ext uri="{FF2B5EF4-FFF2-40B4-BE49-F238E27FC236}">
                <a16:creationId xmlns:a16="http://schemas.microsoft.com/office/drawing/2014/main" id="{040B475B-3AF3-9D37-35C5-2FE98DC19660}"/>
              </a:ext>
            </a:extLst>
          </p:cNvPr>
          <p:cNvPicPr>
            <a:picLocks noChangeAspect="1"/>
          </p:cNvPicPr>
          <p:nvPr/>
        </p:nvPicPr>
        <p:blipFill>
          <a:blip r:embed="rId3"/>
          <a:stretch>
            <a:fillRect/>
          </a:stretch>
        </p:blipFill>
        <p:spPr>
          <a:xfrm>
            <a:off x="4267200" y="1447800"/>
            <a:ext cx="3326605" cy="2327427"/>
          </a:xfrm>
          <a:prstGeom prst="rect">
            <a:avLst/>
          </a:prstGeom>
        </p:spPr>
      </p:pic>
      <p:pic>
        <p:nvPicPr>
          <p:cNvPr id="12" name="Picture 11">
            <a:extLst>
              <a:ext uri="{FF2B5EF4-FFF2-40B4-BE49-F238E27FC236}">
                <a16:creationId xmlns:a16="http://schemas.microsoft.com/office/drawing/2014/main" id="{23D43A9D-0139-C47B-6080-54661E9D1BC6}"/>
              </a:ext>
            </a:extLst>
          </p:cNvPr>
          <p:cNvPicPr>
            <a:picLocks noChangeAspect="1"/>
          </p:cNvPicPr>
          <p:nvPr/>
        </p:nvPicPr>
        <p:blipFill>
          <a:blip r:embed="rId4"/>
          <a:stretch>
            <a:fillRect/>
          </a:stretch>
        </p:blipFill>
        <p:spPr>
          <a:xfrm>
            <a:off x="7771906" y="1447800"/>
            <a:ext cx="3326606" cy="2327427"/>
          </a:xfrm>
          <a:prstGeom prst="rect">
            <a:avLst/>
          </a:prstGeom>
        </p:spPr>
      </p:pic>
      <p:sp>
        <p:nvSpPr>
          <p:cNvPr id="13" name="TextBox 12">
            <a:extLst>
              <a:ext uri="{FF2B5EF4-FFF2-40B4-BE49-F238E27FC236}">
                <a16:creationId xmlns:a16="http://schemas.microsoft.com/office/drawing/2014/main" id="{B9EC7B9E-DB01-56B2-F2A2-1511790BF3F9}"/>
              </a:ext>
            </a:extLst>
          </p:cNvPr>
          <p:cNvSpPr txBox="1"/>
          <p:nvPr/>
        </p:nvSpPr>
        <p:spPr>
          <a:xfrm>
            <a:off x="1524000" y="1447800"/>
            <a:ext cx="917239" cy="369332"/>
          </a:xfrm>
          <a:prstGeom prst="rect">
            <a:avLst/>
          </a:prstGeom>
          <a:noFill/>
        </p:spPr>
        <p:txBody>
          <a:bodyPr wrap="none" rtlCol="0">
            <a:spAutoFit/>
          </a:bodyPr>
          <a:lstStyle/>
          <a:p>
            <a:r>
              <a:rPr lang="es-ES" noProof="0" dirty="0"/>
              <a:t>Modo 0</a:t>
            </a:r>
          </a:p>
        </p:txBody>
      </p:sp>
      <p:sp>
        <p:nvSpPr>
          <p:cNvPr id="14" name="TextBox 13">
            <a:extLst>
              <a:ext uri="{FF2B5EF4-FFF2-40B4-BE49-F238E27FC236}">
                <a16:creationId xmlns:a16="http://schemas.microsoft.com/office/drawing/2014/main" id="{51A9B231-0AA3-309B-6C48-A684E75E13D7}"/>
              </a:ext>
            </a:extLst>
          </p:cNvPr>
          <p:cNvSpPr txBox="1"/>
          <p:nvPr/>
        </p:nvSpPr>
        <p:spPr>
          <a:xfrm>
            <a:off x="5178761" y="1447800"/>
            <a:ext cx="917239" cy="369332"/>
          </a:xfrm>
          <a:prstGeom prst="rect">
            <a:avLst/>
          </a:prstGeom>
          <a:noFill/>
        </p:spPr>
        <p:txBody>
          <a:bodyPr wrap="none" rtlCol="0">
            <a:spAutoFit/>
          </a:bodyPr>
          <a:lstStyle/>
          <a:p>
            <a:r>
              <a:rPr lang="es-ES" noProof="0" dirty="0"/>
              <a:t>Modo 1</a:t>
            </a:r>
          </a:p>
        </p:txBody>
      </p:sp>
      <p:sp>
        <p:nvSpPr>
          <p:cNvPr id="15" name="TextBox 14">
            <a:extLst>
              <a:ext uri="{FF2B5EF4-FFF2-40B4-BE49-F238E27FC236}">
                <a16:creationId xmlns:a16="http://schemas.microsoft.com/office/drawing/2014/main" id="{EBE3E7A5-F6ED-805D-04E3-02EAC025781A}"/>
              </a:ext>
            </a:extLst>
          </p:cNvPr>
          <p:cNvSpPr txBox="1"/>
          <p:nvPr/>
        </p:nvSpPr>
        <p:spPr>
          <a:xfrm>
            <a:off x="8517970" y="1447800"/>
            <a:ext cx="917239" cy="369332"/>
          </a:xfrm>
          <a:prstGeom prst="rect">
            <a:avLst/>
          </a:prstGeom>
          <a:noFill/>
        </p:spPr>
        <p:txBody>
          <a:bodyPr wrap="none" rtlCol="0">
            <a:spAutoFit/>
          </a:bodyPr>
          <a:lstStyle/>
          <a:p>
            <a:r>
              <a:rPr lang="es-ES" noProof="0" dirty="0"/>
              <a:t>Modo 7</a:t>
            </a:r>
          </a:p>
        </p:txBody>
      </p:sp>
      <p:sp>
        <p:nvSpPr>
          <p:cNvPr id="16" name="CuadroTexto 1">
            <a:extLst>
              <a:ext uri="{FF2B5EF4-FFF2-40B4-BE49-F238E27FC236}">
                <a16:creationId xmlns:a16="http://schemas.microsoft.com/office/drawing/2014/main" id="{F35AAD81-9C52-DC7A-06FA-BA383FF34727}"/>
              </a:ext>
            </a:extLst>
          </p:cNvPr>
          <p:cNvSpPr txBox="1"/>
          <p:nvPr/>
        </p:nvSpPr>
        <p:spPr>
          <a:xfrm>
            <a:off x="583019" y="3966187"/>
            <a:ext cx="11199971" cy="830997"/>
          </a:xfrm>
          <a:prstGeom prst="rect">
            <a:avLst/>
          </a:prstGeom>
          <a:solidFill>
            <a:schemeClr val="bg1">
              <a:lumMod val="95000"/>
            </a:schemeClr>
          </a:solidFill>
          <a:ln w="28575">
            <a:solidFill>
              <a:srgbClr val="E0700D"/>
            </a:solidFill>
          </a:ln>
        </p:spPr>
        <p:txBody>
          <a:bodyPr wrap="square" rtlCol="0">
            <a:spAutoFit/>
          </a:bodyPr>
          <a:lstStyle/>
          <a:p>
            <a:r>
              <a:rPr lang="es-ES" sz="1200" noProof="0" dirty="0">
                <a:latin typeface="Arial" panose="020B0604020202020204" pitchFamily="34" charset="0"/>
                <a:cs typeface="Arial" panose="020B0604020202020204" pitchFamily="34" charset="0"/>
              </a:rPr>
              <a:t>En el modo 0 no aparece ningún nodo porque solamente se propaga el campo en una fase, apareciendo toda la potencia en el mismo </a:t>
            </a:r>
            <a:r>
              <a:rPr lang="es-ES" sz="1200" dirty="0">
                <a:latin typeface="Arial" panose="020B0604020202020204" pitchFamily="34" charset="0"/>
                <a:cs typeface="Arial" panose="020B0604020202020204" pitchFamily="34" charset="0"/>
              </a:rPr>
              <a:t>lóbulo</a:t>
            </a:r>
            <a:r>
              <a:rPr lang="es-ES" sz="1200" noProof="0" dirty="0">
                <a:latin typeface="Arial" panose="020B0604020202020204" pitchFamily="34" charset="0"/>
                <a:cs typeface="Arial" panose="020B0604020202020204" pitchFamily="34" charset="0"/>
              </a:rPr>
              <a:t>, por lo que lo convierte en el modo ideal para transmitir potencia.</a:t>
            </a:r>
          </a:p>
          <a:p>
            <a:r>
              <a:rPr lang="es-ES" sz="1200" noProof="0" dirty="0">
                <a:latin typeface="Arial" panose="020B0604020202020204" pitchFamily="34" charset="0"/>
                <a:cs typeface="Arial" panose="020B0604020202020204" pitchFamily="34" charset="0"/>
              </a:rPr>
              <a:t>Los demás modos se tratan de armónicos, que aparecen cuando la luz rebota dentro de la guía con un ángulo mayor </a:t>
            </a:r>
            <a:r>
              <a:rPr lang="es-ES" sz="1200" noProof="0" dirty="0" err="1">
                <a:latin typeface="Arial" panose="020B0604020202020204" pitchFamily="34" charset="0"/>
                <a:cs typeface="Arial" panose="020B0604020202020204" pitchFamily="34" charset="0"/>
              </a:rPr>
              <a:t>cuato</a:t>
            </a:r>
            <a:r>
              <a:rPr lang="es-ES" sz="1200" noProof="0" dirty="0">
                <a:latin typeface="Arial" panose="020B0604020202020204" pitchFamily="34" charset="0"/>
                <a:cs typeface="Arial" panose="020B0604020202020204" pitchFamily="34" charset="0"/>
              </a:rPr>
              <a:t> mayor es el orden, por lo que cuanto más alto sea este último, más lóbulos aparecerán en la guía.</a:t>
            </a:r>
          </a:p>
        </p:txBody>
      </p:sp>
    </p:spTree>
    <p:extLst>
      <p:ext uri="{BB962C8B-B14F-4D97-AF65-F5344CB8AC3E}">
        <p14:creationId xmlns:p14="http://schemas.microsoft.com/office/powerpoint/2010/main" val="3395510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#6 – 6.1 2x2 </a:t>
            </a:r>
            <a:r>
              <a:rPr lang="es-ES" sz="2500" noProof="0" dirty="0" err="1"/>
              <a:t>Multimode</a:t>
            </a:r>
            <a:r>
              <a:rPr lang="es-ES" sz="2500" noProof="0" dirty="0"/>
              <a:t> </a:t>
            </a:r>
            <a:r>
              <a:rPr lang="es-ES" sz="2500" noProof="0" dirty="0" err="1"/>
              <a:t>Interference</a:t>
            </a:r>
            <a:r>
              <a:rPr lang="es-ES" sz="2500" noProof="0" dirty="0"/>
              <a:t> </a:t>
            </a:r>
            <a:r>
              <a:rPr lang="es-ES" sz="2500" noProof="0" dirty="0" err="1"/>
              <a:t>Coupler</a:t>
            </a:r>
            <a:r>
              <a:rPr lang="es-ES" sz="2500" noProof="0" dirty="0"/>
              <a:t> </a:t>
            </a:r>
            <a:br>
              <a:rPr lang="es-ES" sz="2500" noProof="0" dirty="0"/>
            </a:br>
            <a:r>
              <a:rPr lang="es-ES" b="0" noProof="0" dirty="0" err="1"/>
              <a:t>Wavelength</a:t>
            </a:r>
            <a:r>
              <a:rPr lang="es-ES" b="0" noProof="0" dirty="0"/>
              <a:t> 1.55 µm, </a:t>
            </a:r>
            <a:r>
              <a:rPr lang="es-ES" b="0" noProof="0" dirty="0" err="1"/>
              <a:t>wMMI</a:t>
            </a:r>
            <a:r>
              <a:rPr lang="es-ES" b="0" noProof="0" dirty="0"/>
              <a:t> = 6.6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noProof="0" smtClean="0"/>
              <a:t>13</a:t>
            </a:fld>
            <a:endParaRPr lang="es-ES" noProof="0" dirty="0"/>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Comment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Coupling</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relationship</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Lpi</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losses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comparison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with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Directional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Coupler</a:t>
            </a:r>
            <a:r>
              <a:rPr lang="es-ES" sz="1200" noProof="0" dirty="0">
                <a:latin typeface="Arial" panose="020B0604020202020204" pitchFamily="34" charset="0"/>
                <a:cs typeface="Arial" panose="020B0604020202020204" pitchFamily="34" charset="0"/>
              </a:rPr>
              <a:t>… )</a:t>
            </a:r>
          </a:p>
          <a:p>
            <a:pPr algn="just"/>
            <a:r>
              <a:rPr lang="es-ES" sz="1200" noProof="0" dirty="0">
                <a:latin typeface="Arial" panose="020B0604020202020204" pitchFamily="34" charset="0"/>
                <a:cs typeface="Arial" panose="020B0604020202020204" pitchFamily="34" charset="0"/>
              </a:rPr>
              <a:t>La relación de acoplo es bastante pareja, siendo 0.5152 y 0.4848, el </a:t>
            </a:r>
            <a:r>
              <a:rPr lang="es-ES" sz="1200" noProof="0" dirty="0" err="1">
                <a:latin typeface="Arial" panose="020B0604020202020204" pitchFamily="34" charset="0"/>
                <a:cs typeface="Arial" panose="020B0604020202020204" pitchFamily="34" charset="0"/>
              </a:rPr>
              <a:t>L_pi</a:t>
            </a:r>
            <a:r>
              <a:rPr lang="es-ES" sz="1200" noProof="0" dirty="0">
                <a:latin typeface="Arial" panose="020B0604020202020204" pitchFamily="34" charset="0"/>
                <a:cs typeface="Arial" panose="020B0604020202020204" pitchFamily="34" charset="0"/>
              </a:rPr>
              <a:t> es de 69.036, que es el doble de lo que mide este MMI. En cuanto a las pérdidas, son algo altas con unos 0.4217 dB.</a:t>
            </a:r>
          </a:p>
          <a:p>
            <a:pPr algn="just"/>
            <a:r>
              <a:rPr lang="es-ES" sz="1200" dirty="0">
                <a:latin typeface="Arial" panose="020B0604020202020204" pitchFamily="34" charset="0"/>
                <a:cs typeface="Arial" panose="020B0604020202020204" pitchFamily="34" charset="0"/>
              </a:rPr>
              <a:t>Las diferencias en comparación al acoplador direccional es que el MMI es más robusto frente a variaciones de fabricación y también tiene un ancho de banda muy mayor.</a:t>
            </a:r>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Picture 4">
            <a:extLst>
              <a:ext uri="{FF2B5EF4-FFF2-40B4-BE49-F238E27FC236}">
                <a16:creationId xmlns:a16="http://schemas.microsoft.com/office/drawing/2014/main" id="{3660E766-0E27-899A-D2CD-BF676EE4A5FB}"/>
              </a:ext>
            </a:extLst>
          </p:cNvPr>
          <p:cNvPicPr>
            <a:picLocks noChangeAspect="1"/>
          </p:cNvPicPr>
          <p:nvPr/>
        </p:nvPicPr>
        <p:blipFill>
          <a:blip r:embed="rId4"/>
          <a:stretch>
            <a:fillRect/>
          </a:stretch>
        </p:blipFill>
        <p:spPr>
          <a:xfrm>
            <a:off x="990600" y="1982417"/>
            <a:ext cx="5381625" cy="2219325"/>
          </a:xfrm>
          <a:prstGeom prst="rect">
            <a:avLst/>
          </a:prstGeom>
        </p:spPr>
      </p:pic>
      <p:pic>
        <p:nvPicPr>
          <p:cNvPr id="9" name="Picture 8">
            <a:extLst>
              <a:ext uri="{FF2B5EF4-FFF2-40B4-BE49-F238E27FC236}">
                <a16:creationId xmlns:a16="http://schemas.microsoft.com/office/drawing/2014/main" id="{88344DB1-39BE-A173-FEB1-31F0C5B353A2}"/>
              </a:ext>
            </a:extLst>
          </p:cNvPr>
          <p:cNvPicPr>
            <a:picLocks noChangeAspect="1"/>
          </p:cNvPicPr>
          <p:nvPr/>
        </p:nvPicPr>
        <p:blipFill>
          <a:blip r:embed="rId5"/>
          <a:stretch>
            <a:fillRect/>
          </a:stretch>
        </p:blipFill>
        <p:spPr>
          <a:xfrm>
            <a:off x="7162800" y="1649206"/>
            <a:ext cx="4001058" cy="2762636"/>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37679"/>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#6.2 – 2x2 </a:t>
            </a:r>
            <a:r>
              <a:rPr lang="es-ES" sz="2500" noProof="0" dirty="0" err="1"/>
              <a:t>Multimode</a:t>
            </a:r>
            <a:r>
              <a:rPr lang="es-ES" sz="2500" noProof="0" dirty="0"/>
              <a:t> </a:t>
            </a:r>
            <a:r>
              <a:rPr lang="es-ES" sz="2500" noProof="0" dirty="0" err="1"/>
              <a:t>Interference</a:t>
            </a:r>
            <a:r>
              <a:rPr lang="es-ES" sz="2500" noProof="0" dirty="0"/>
              <a:t> </a:t>
            </a:r>
            <a:r>
              <a:rPr lang="es-ES" sz="2500" noProof="0" dirty="0" err="1"/>
              <a:t>Coupler</a:t>
            </a:r>
            <a:r>
              <a:rPr lang="es-ES" sz="2500" noProof="0" dirty="0"/>
              <a:t> - </a:t>
            </a:r>
            <a:r>
              <a:rPr lang="es-ES" sz="2500" noProof="0" dirty="0" err="1"/>
              <a:t>Optimization</a:t>
            </a:r>
            <a:br>
              <a:rPr lang="es-ES" sz="2500" noProof="0" dirty="0"/>
            </a:br>
            <a:r>
              <a:rPr lang="es-ES" b="0" noProof="0" dirty="0" err="1"/>
              <a:t>Wavelength</a:t>
            </a:r>
            <a:r>
              <a:rPr lang="es-ES" b="0" noProof="0" dirty="0"/>
              <a:t> 1.55 µm, </a:t>
            </a:r>
            <a:r>
              <a:rPr lang="es-ES" b="0" noProof="0" dirty="0" err="1"/>
              <a:t>wMMI</a:t>
            </a:r>
            <a:r>
              <a:rPr lang="es-ES" b="0" noProof="0" dirty="0"/>
              <a:t> = 6.6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noProof="0" smtClean="0"/>
              <a:t>14</a:t>
            </a:fld>
            <a:endParaRPr lang="es-ES" noProof="0" dirty="0"/>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Para conseguir un caso donde los dos puertos de salida obtuvieran la misma potencia, había que modificar la longitud del MMI para provocar que la interferencia ocurriera justo en la posición de los puertos. Con esto, modificando esta longitud, se consiguió tener un ratio de salido completamente parejo, donde ambos puertos de salida reciben el la misma potencia. Aunque para conseguirlo, hico falta aumentar las pérdidas, siendo de 0.4629, que aunque no hacen al MMI inservible, son más altas de lo que deberían.</a:t>
            </a:r>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Picture 4">
            <a:extLst>
              <a:ext uri="{FF2B5EF4-FFF2-40B4-BE49-F238E27FC236}">
                <a16:creationId xmlns:a16="http://schemas.microsoft.com/office/drawing/2014/main" id="{5A4AA339-F14E-2DC8-0C4E-FB8FE99D8FDE}"/>
              </a:ext>
            </a:extLst>
          </p:cNvPr>
          <p:cNvPicPr>
            <a:picLocks noChangeAspect="1"/>
          </p:cNvPicPr>
          <p:nvPr/>
        </p:nvPicPr>
        <p:blipFill>
          <a:blip r:embed="rId4"/>
          <a:stretch>
            <a:fillRect/>
          </a:stretch>
        </p:blipFill>
        <p:spPr>
          <a:xfrm>
            <a:off x="838200" y="1857970"/>
            <a:ext cx="5614345" cy="2345107"/>
          </a:xfrm>
          <a:prstGeom prst="rect">
            <a:avLst/>
          </a:prstGeom>
        </p:spPr>
      </p:pic>
      <p:pic>
        <p:nvPicPr>
          <p:cNvPr id="9" name="Picture 8">
            <a:extLst>
              <a:ext uri="{FF2B5EF4-FFF2-40B4-BE49-F238E27FC236}">
                <a16:creationId xmlns:a16="http://schemas.microsoft.com/office/drawing/2014/main" id="{9A9ECA8E-7E4C-430A-A156-4651DDA8EC03}"/>
              </a:ext>
            </a:extLst>
          </p:cNvPr>
          <p:cNvPicPr>
            <a:picLocks noChangeAspect="1"/>
          </p:cNvPicPr>
          <p:nvPr/>
        </p:nvPicPr>
        <p:blipFill>
          <a:blip r:embed="rId5"/>
          <a:stretch>
            <a:fillRect/>
          </a:stretch>
        </p:blipFill>
        <p:spPr>
          <a:xfrm>
            <a:off x="7496874" y="1630152"/>
            <a:ext cx="3629532" cy="2800741"/>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#6.3 – 2x2 </a:t>
            </a:r>
            <a:r>
              <a:rPr lang="es-ES" sz="2500" noProof="0" dirty="0" err="1"/>
              <a:t>Multimode</a:t>
            </a:r>
            <a:r>
              <a:rPr lang="es-ES" sz="2500" noProof="0" dirty="0"/>
              <a:t> </a:t>
            </a:r>
            <a:r>
              <a:rPr lang="es-ES" sz="2500" noProof="0" dirty="0" err="1"/>
              <a:t>Interference</a:t>
            </a:r>
            <a:r>
              <a:rPr lang="es-ES" sz="2500" noProof="0" dirty="0"/>
              <a:t> </a:t>
            </a:r>
            <a:r>
              <a:rPr lang="es-ES" sz="2500" noProof="0" dirty="0" err="1"/>
              <a:t>Coupler</a:t>
            </a:r>
            <a:r>
              <a:rPr lang="es-ES" sz="2500" noProof="0" dirty="0"/>
              <a:t> – </a:t>
            </a:r>
            <a:r>
              <a:rPr lang="es-ES" sz="2500" noProof="0" dirty="0" err="1"/>
              <a:t>Optimization</a:t>
            </a:r>
            <a:r>
              <a:rPr lang="es-ES" sz="2500" noProof="0" dirty="0"/>
              <a:t> (II)</a:t>
            </a:r>
            <a:br>
              <a:rPr lang="es-ES" sz="2500" noProof="0" dirty="0"/>
            </a:br>
            <a:r>
              <a:rPr lang="es-ES" b="0" noProof="0" dirty="0" err="1"/>
              <a:t>Wavelength</a:t>
            </a:r>
            <a:r>
              <a:rPr lang="es-ES" b="0" noProof="0" dirty="0"/>
              <a:t> 1.55 µm, </a:t>
            </a:r>
            <a:r>
              <a:rPr lang="es-ES" b="0" noProof="0" dirty="0" err="1"/>
              <a:t>wMMI</a:t>
            </a:r>
            <a:r>
              <a:rPr lang="es-ES" b="0" noProof="0" dirty="0"/>
              <a:t> = 6.6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noProof="0" smtClean="0"/>
              <a:t>15</a:t>
            </a:fld>
            <a:endParaRPr lang="es-ES" noProof="0" dirty="0"/>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Se debía conseguir unas pérdidas menores a 0.1 dB. Para conseguirlo, se debía de modificar tanto la posición de las guías de onda, como la anchura de estas, de esta forma se puede ayudar al campo provocado por la interferencia a transmitir la mayor potencia posible dentro de los puertos de salida.</a:t>
            </a:r>
          </a:p>
          <a:p>
            <a:pPr algn="just"/>
            <a:r>
              <a:rPr lang="es-ES" sz="1200" dirty="0">
                <a:latin typeface="Arial" panose="020B0604020202020204" pitchFamily="34" charset="0"/>
                <a:cs typeface="Arial" panose="020B0604020202020204" pitchFamily="34" charset="0"/>
              </a:rPr>
              <a:t>De esta forma se consiguieron unas pérdidas de 0.096 dB, que son bastante menores en comparación al caso anterior, pero con la diferencia de que en este caso, el ratio de salida es más dispar, con 0.5074 en un puerto y 0.4926 en el otro.</a:t>
            </a:r>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10" name="Picture 9">
            <a:extLst>
              <a:ext uri="{FF2B5EF4-FFF2-40B4-BE49-F238E27FC236}">
                <a16:creationId xmlns:a16="http://schemas.microsoft.com/office/drawing/2014/main" id="{30A191A5-72CA-B6D8-BE32-B00027003502}"/>
              </a:ext>
            </a:extLst>
          </p:cNvPr>
          <p:cNvPicPr>
            <a:picLocks noChangeAspect="1"/>
          </p:cNvPicPr>
          <p:nvPr/>
        </p:nvPicPr>
        <p:blipFill>
          <a:blip r:embed="rId4"/>
          <a:stretch>
            <a:fillRect/>
          </a:stretch>
        </p:blipFill>
        <p:spPr>
          <a:xfrm>
            <a:off x="914400" y="1905000"/>
            <a:ext cx="5828020" cy="2403414"/>
          </a:xfrm>
          <a:prstGeom prst="rect">
            <a:avLst/>
          </a:prstGeom>
        </p:spPr>
      </p:pic>
      <p:pic>
        <p:nvPicPr>
          <p:cNvPr id="11" name="Picture 10">
            <a:extLst>
              <a:ext uri="{FF2B5EF4-FFF2-40B4-BE49-F238E27FC236}">
                <a16:creationId xmlns:a16="http://schemas.microsoft.com/office/drawing/2014/main" id="{7FC7D463-B304-44D1-ADF2-939895056F08}"/>
              </a:ext>
            </a:extLst>
          </p:cNvPr>
          <p:cNvPicPr>
            <a:picLocks noChangeAspect="1"/>
          </p:cNvPicPr>
          <p:nvPr/>
        </p:nvPicPr>
        <p:blipFill>
          <a:blip r:embed="rId5"/>
          <a:stretch>
            <a:fillRect/>
          </a:stretch>
        </p:blipFill>
        <p:spPr>
          <a:xfrm>
            <a:off x="7590911" y="1615864"/>
            <a:ext cx="3686689" cy="2829320"/>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err="1"/>
              <a:t>Learning</a:t>
            </a:r>
            <a:r>
              <a:rPr lang="es-ES" sz="2500" noProof="0" dirty="0"/>
              <a:t> </a:t>
            </a:r>
            <a:r>
              <a:rPr lang="es-ES" sz="2500" noProof="0" dirty="0" err="1"/>
              <a:t>outcome</a:t>
            </a:r>
            <a:r>
              <a:rPr lang="es-ES" sz="2500" noProof="0" dirty="0"/>
              <a:t> #7 – 1x4 </a:t>
            </a:r>
            <a:r>
              <a:rPr lang="es-ES" sz="2500" noProof="0" dirty="0" err="1"/>
              <a:t>Multimode</a:t>
            </a:r>
            <a:r>
              <a:rPr lang="es-ES" sz="2500" noProof="0" dirty="0"/>
              <a:t> </a:t>
            </a:r>
            <a:r>
              <a:rPr lang="es-ES" sz="2500" noProof="0" dirty="0" err="1"/>
              <a:t>Interference</a:t>
            </a:r>
            <a:r>
              <a:rPr lang="es-ES" sz="2500" noProof="0" dirty="0"/>
              <a:t> </a:t>
            </a:r>
            <a:r>
              <a:rPr lang="es-ES" sz="2500" noProof="0" dirty="0" err="1"/>
              <a:t>Coupler</a:t>
            </a:r>
            <a:r>
              <a:rPr lang="es-ES" sz="2500" noProof="0" dirty="0"/>
              <a:t> </a:t>
            </a:r>
            <a:br>
              <a:rPr lang="es-ES" sz="2500" noProof="0" dirty="0"/>
            </a:br>
            <a:r>
              <a:rPr lang="es-ES" b="0" noProof="0" dirty="0" err="1"/>
              <a:t>Wavelength</a:t>
            </a:r>
            <a:r>
              <a:rPr lang="es-ES" b="0" noProof="0" dirty="0"/>
              <a:t> 1.55 µm, </a:t>
            </a:r>
            <a:r>
              <a:rPr lang="es-ES" b="0" noProof="0" dirty="0" err="1"/>
              <a:t>wMMI</a:t>
            </a:r>
            <a:r>
              <a:rPr lang="es-ES" b="0" noProof="0" dirty="0"/>
              <a:t> = ?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noProof="0" smtClean="0"/>
              <a:t>16</a:t>
            </a:fld>
            <a:endParaRPr lang="es-ES" noProof="0" dirty="0"/>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En este caso se quiso juntar todos los métodos utilizados en el MMI 2x2 anteriores, pero aplicarlo en un 1x4. Finalmente se consiguieron unas</a:t>
            </a:r>
            <a:r>
              <a:rPr lang="es-ES" sz="1200" dirty="0">
                <a:latin typeface="Arial" panose="020B0604020202020204" pitchFamily="34" charset="0"/>
                <a:cs typeface="Arial" panose="020B0604020202020204" pitchFamily="34" charset="0"/>
              </a:rPr>
              <a:t> pérdidas de 0.309 dB, y unos ratios de 0.2514, 0.2485, 0.2485 y 0.2516. Aunque los ratios no sea perfectos y las pérdidas sean algo altas, el MMI 1x4 sigue siendo perfectamente funcional.</a:t>
            </a: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pic>
        <p:nvPicPr>
          <p:cNvPr id="5" name="Picture 4">
            <a:extLst>
              <a:ext uri="{FF2B5EF4-FFF2-40B4-BE49-F238E27FC236}">
                <a16:creationId xmlns:a16="http://schemas.microsoft.com/office/drawing/2014/main" id="{493067C3-809B-696D-EBF3-C1F2D28CE7A4}"/>
              </a:ext>
            </a:extLst>
          </p:cNvPr>
          <p:cNvPicPr>
            <a:picLocks noChangeAspect="1"/>
          </p:cNvPicPr>
          <p:nvPr/>
        </p:nvPicPr>
        <p:blipFill>
          <a:blip r:embed="rId4"/>
          <a:stretch>
            <a:fillRect/>
          </a:stretch>
        </p:blipFill>
        <p:spPr>
          <a:xfrm>
            <a:off x="628650" y="2057400"/>
            <a:ext cx="5467350" cy="2257425"/>
          </a:xfrm>
          <a:prstGeom prst="rect">
            <a:avLst/>
          </a:prstGeom>
        </p:spPr>
      </p:pic>
      <p:pic>
        <p:nvPicPr>
          <p:cNvPr id="9" name="Picture 8">
            <a:extLst>
              <a:ext uri="{FF2B5EF4-FFF2-40B4-BE49-F238E27FC236}">
                <a16:creationId xmlns:a16="http://schemas.microsoft.com/office/drawing/2014/main" id="{5F99ACBE-C4C0-38C6-2309-5B4FE1379136}"/>
              </a:ext>
            </a:extLst>
          </p:cNvPr>
          <p:cNvPicPr>
            <a:picLocks noChangeAspect="1"/>
          </p:cNvPicPr>
          <p:nvPr/>
        </p:nvPicPr>
        <p:blipFill>
          <a:blip r:embed="rId5"/>
          <a:stretch>
            <a:fillRect/>
          </a:stretch>
        </p:blipFill>
        <p:spPr>
          <a:xfrm>
            <a:off x="6234957" y="1630153"/>
            <a:ext cx="5468113" cy="2800741"/>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s-ES" sz="2500" noProof="0" dirty="0"/>
              <a:t>Extra #2 – </a:t>
            </a:r>
            <a:r>
              <a:rPr lang="es-ES" sz="2500" noProof="0" dirty="0" err="1"/>
              <a:t>Directional</a:t>
            </a:r>
            <a:r>
              <a:rPr lang="es-ES" sz="2500" noProof="0" dirty="0"/>
              <a:t> </a:t>
            </a:r>
            <a:r>
              <a:rPr lang="es-ES" sz="2500" noProof="0" dirty="0" err="1"/>
              <a:t>wavelength</a:t>
            </a:r>
            <a:r>
              <a:rPr lang="es-ES" sz="2500" noProof="0" dirty="0"/>
              <a:t> </a:t>
            </a:r>
            <a:r>
              <a:rPr lang="es-ES" sz="2500" noProof="0" dirty="0" err="1"/>
              <a:t>dependence</a:t>
            </a:r>
            <a:br>
              <a:rPr lang="es-ES" sz="2500" noProof="0" dirty="0"/>
            </a:br>
            <a:r>
              <a:rPr lang="es-ES" b="0" noProof="0" dirty="0" err="1"/>
              <a:t>Wavelengths</a:t>
            </a:r>
            <a:r>
              <a:rPr lang="es-ES" b="0" noProof="0" dirty="0"/>
              <a:t> </a:t>
            </a:r>
            <a:r>
              <a:rPr lang="es-ES" noProof="0" dirty="0" err="1"/>
              <a:t>from</a:t>
            </a:r>
            <a:r>
              <a:rPr lang="es-ES" noProof="0" dirty="0"/>
              <a:t> 1.5 </a:t>
            </a:r>
            <a:r>
              <a:rPr lang="es-ES" noProof="0" dirty="0" err="1"/>
              <a:t>to</a:t>
            </a:r>
            <a:r>
              <a:rPr lang="es-ES" noProof="0" dirty="0"/>
              <a:t> 1.7 µm</a:t>
            </a:r>
            <a:r>
              <a:rPr lang="es-ES" b="0" noProof="0" dirty="0"/>
              <a:t>, gap = 0.6 µm, </a:t>
            </a:r>
            <a:r>
              <a:rPr lang="es-ES" b="0" noProof="0" dirty="0" err="1"/>
              <a:t>width</a:t>
            </a:r>
            <a:r>
              <a:rPr lang="es-ES" b="0" noProof="0" dirty="0"/>
              <a:t> 1.0 µm</a:t>
            </a:r>
            <a:br>
              <a:rPr lang="es-ES" b="0" noProof="0" dirty="0"/>
            </a:br>
            <a:br>
              <a:rPr lang="es-ES" sz="2500" spc="-5" noProof="0" dirty="0">
                <a:latin typeface="+mj-lt"/>
                <a:cs typeface="Lucida Sans"/>
              </a:rPr>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noProof="0" smtClean="0"/>
              <a:t>17</a:t>
            </a:fld>
            <a:endParaRPr lang="es-ES" noProof="0" dirty="0"/>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La gráfica de la guía Deep, muestra lo que sería intuitivo, una bajada general del </a:t>
            </a:r>
            <a:r>
              <a:rPr lang="es-ES" sz="1200" dirty="0" err="1">
                <a:latin typeface="Arial" panose="020B0604020202020204" pitchFamily="34" charset="0"/>
                <a:cs typeface="Arial" panose="020B0604020202020204" pitchFamily="34" charset="0"/>
              </a:rPr>
              <a:t>L_pi</a:t>
            </a:r>
            <a:r>
              <a:rPr lang="es-ES" sz="1200" dirty="0">
                <a:latin typeface="Arial" panose="020B0604020202020204" pitchFamily="34" charset="0"/>
                <a:cs typeface="Arial" panose="020B0604020202020204" pitchFamily="34" charset="0"/>
              </a:rPr>
              <a:t> </a:t>
            </a:r>
            <a:r>
              <a:rPr lang="es-ES" sz="1200" noProof="0" dirty="0">
                <a:latin typeface="Arial" panose="020B0604020202020204" pitchFamily="34" charset="0"/>
                <a:cs typeface="Arial" panose="020B0604020202020204" pitchFamily="34" charset="0"/>
              </a:rPr>
              <a:t>cuando la longitud de onda sube. Esto debido a que cuanto mayor es la longitud de onda, más fácil es que el campo se ‘salga de la guía.</a:t>
            </a:r>
          </a:p>
          <a:p>
            <a:pPr algn="just"/>
            <a:r>
              <a:rPr lang="es-ES" sz="1200" dirty="0">
                <a:latin typeface="Arial" panose="020B0604020202020204" pitchFamily="34" charset="0"/>
                <a:cs typeface="Arial" panose="020B0604020202020204" pitchFamily="34" charset="0"/>
              </a:rPr>
              <a:t>Los picos de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indican que el modo ha alcanzado el punto de corte (</a:t>
            </a:r>
            <a:r>
              <a:rPr lang="es-ES" sz="1200" dirty="0" err="1">
                <a:latin typeface="Arial" panose="020B0604020202020204" pitchFamily="34" charset="0"/>
                <a:cs typeface="Arial" panose="020B0604020202020204" pitchFamily="34" charset="0"/>
              </a:rPr>
              <a:t>cut</a:t>
            </a:r>
            <a:r>
              <a:rPr lang="es-ES" sz="1200" dirty="0">
                <a:latin typeface="Arial" panose="020B0604020202020204" pitchFamily="34" charset="0"/>
                <a:cs typeface="Arial" panose="020B0604020202020204" pitchFamily="34" charset="0"/>
              </a:rPr>
              <a:t>-off), debido a que el sustrato lateral ayuda al campo a ‘salir’ de la guía. Pero este fenómeno solamente ocurre con el modo TM, mostrando que para este diseño, el modo TE es mucho más robusto frente al TM.</a:t>
            </a:r>
            <a:endParaRPr lang="es-ES" sz="1200" noProof="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a:t>
                </a:r>
                <a14:m>
                  <m:oMath xmlns:m="http://schemas.openxmlformats.org/officeDocument/2006/math">
                    <m:sSub>
                      <m:sSubPr>
                        <m:ctrlPr>
                          <a:rPr lang="es-ES" sz="1800" b="0" i="1" noProof="0" smtClean="0">
                            <a:latin typeface="Cambria Math" panose="02040503050406030204" pitchFamily="18" charset="0"/>
                          </a:rPr>
                        </m:ctrlPr>
                      </m:sSubPr>
                      <m:e>
                        <m:r>
                          <a:rPr lang="es-ES" sz="1800" b="0" i="1" noProof="0" smtClean="0">
                            <a:latin typeface="Cambria Math" panose="02040503050406030204" pitchFamily="18" charset="0"/>
                          </a:rPr>
                          <m:t>𝐿</m:t>
                        </m:r>
                      </m:e>
                      <m:sub>
                        <m:r>
                          <a:rPr lang="es-ES" sz="1800" b="0" i="1" noProof="0" smtClean="0">
                            <a:latin typeface="Cambria Math" panose="02040503050406030204" pitchFamily="18" charset="0"/>
                          </a:rPr>
                          <m:t>𝜋</m:t>
                        </m:r>
                      </m:sub>
                    </m:sSub>
                  </m:oMath>
                </a14:m>
                <a:r>
                  <a:rPr lang="es-ES" noProof="0" dirty="0"/>
                  <a:t> vs </a:t>
                </a:r>
                <a:r>
                  <a:rPr lang="es-ES" noProof="0" dirty="0" err="1"/>
                  <a:t>wvl</a:t>
                </a:r>
                <a:r>
                  <a:rPr lang="es-ES" noProof="0" dirty="0"/>
                  <a:t> </a:t>
                </a:r>
                <a:r>
                  <a:rPr lang="es-ES" noProof="0" dirty="0" err="1"/>
                  <a:t>for</a:t>
                </a:r>
                <a:r>
                  <a:rPr lang="es-ES" noProof="0" dirty="0"/>
                  <a:t> TE and TM </a:t>
                </a:r>
                <a:r>
                  <a:rPr lang="es-ES" noProof="0" dirty="0" err="1"/>
                  <a:t>plot</a:t>
                </a:r>
                <a:r>
                  <a:rPr lang="es-ES" noProof="0" dirty="0"/>
                  <a:t> </a:t>
                </a:r>
                <a:r>
                  <a:rPr lang="es-ES" noProof="0" dirty="0" err="1"/>
                  <a:t>here</a:t>
                </a:r>
                <a:endParaRPr lang="es-ES" noProof="0" dirty="0"/>
              </a:p>
            </p:txBody>
          </p:sp>
        </mc:Choice>
        <mc:Fallback>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s-ES" b="1" noProof="0" dirty="0" err="1"/>
                  <a:t>shallow</a:t>
                </a:r>
                <a:r>
                  <a:rPr lang="es-ES" noProof="0" dirty="0"/>
                  <a:t> </a:t>
                </a:r>
                <a:r>
                  <a:rPr lang="es-ES" noProof="0" dirty="0" err="1"/>
                  <a:t>waveguide</a:t>
                </a:r>
                <a:endParaRPr lang="es-ES" noProof="0" dirty="0"/>
              </a:p>
              <a:p>
                <a:pPr algn="ctr"/>
                <a:endParaRPr lang="es-ES" noProof="0" dirty="0"/>
              </a:p>
              <a:p>
                <a:pPr algn="ctr"/>
                <a:r>
                  <a:rPr lang="es-ES" noProof="0" dirty="0"/>
                  <a:t>Paste </a:t>
                </a:r>
                <a14:m>
                  <m:oMath xmlns:m="http://schemas.openxmlformats.org/officeDocument/2006/math">
                    <m:sSub>
                      <m:sSubPr>
                        <m:ctrlPr>
                          <a:rPr lang="es-ES" sz="1800" b="0" i="1" noProof="0" smtClean="0">
                            <a:latin typeface="Cambria Math" panose="02040503050406030204" pitchFamily="18" charset="0"/>
                          </a:rPr>
                        </m:ctrlPr>
                      </m:sSubPr>
                      <m:e>
                        <m:r>
                          <a:rPr lang="es-ES" sz="1800" b="0" i="1" noProof="0" smtClean="0">
                            <a:latin typeface="Cambria Math" panose="02040503050406030204" pitchFamily="18" charset="0"/>
                          </a:rPr>
                          <m:t>𝐿</m:t>
                        </m:r>
                      </m:e>
                      <m:sub>
                        <m:r>
                          <a:rPr lang="es-ES" sz="1800" b="0" i="1" noProof="0" smtClean="0">
                            <a:latin typeface="Cambria Math" panose="02040503050406030204" pitchFamily="18" charset="0"/>
                          </a:rPr>
                          <m:t>𝜋</m:t>
                        </m:r>
                      </m:sub>
                    </m:sSub>
                  </m:oMath>
                </a14:m>
                <a:r>
                  <a:rPr lang="es-ES" noProof="0" dirty="0"/>
                  <a:t> vs </a:t>
                </a:r>
                <a:r>
                  <a:rPr lang="es-ES" noProof="0" dirty="0" err="1"/>
                  <a:t>wvl</a:t>
                </a:r>
                <a:r>
                  <a:rPr lang="es-ES" noProof="0" dirty="0"/>
                  <a:t> </a:t>
                </a:r>
                <a:r>
                  <a:rPr lang="es-ES" noProof="0" dirty="0" err="1"/>
                  <a:t>for</a:t>
                </a:r>
                <a:r>
                  <a:rPr lang="es-ES" noProof="0" dirty="0"/>
                  <a:t> TE and TM </a:t>
                </a:r>
                <a:r>
                  <a:rPr lang="es-ES" noProof="0" dirty="0" err="1"/>
                  <a:t>plot</a:t>
                </a:r>
                <a:r>
                  <a:rPr lang="es-ES" noProof="0" dirty="0"/>
                  <a:t> </a:t>
                </a:r>
                <a:r>
                  <a:rPr lang="es-ES" noProof="0" dirty="0" err="1"/>
                  <a:t>here</a:t>
                </a:r>
                <a:endParaRPr lang="es-ES" noProof="0" dirty="0"/>
              </a:p>
            </p:txBody>
          </p:sp>
        </mc:Choice>
        <mc:Fallback>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10" name="Picture 9">
            <a:extLst>
              <a:ext uri="{FF2B5EF4-FFF2-40B4-BE49-F238E27FC236}">
                <a16:creationId xmlns:a16="http://schemas.microsoft.com/office/drawing/2014/main" id="{E8E71E30-5D48-8697-E442-F7A6B5FEE145}"/>
              </a:ext>
            </a:extLst>
          </p:cNvPr>
          <p:cNvPicPr>
            <a:picLocks noChangeAspect="1"/>
          </p:cNvPicPr>
          <p:nvPr/>
        </p:nvPicPr>
        <p:blipFill>
          <a:blip r:embed="rId6"/>
          <a:stretch>
            <a:fillRect/>
          </a:stretch>
        </p:blipFill>
        <p:spPr>
          <a:xfrm>
            <a:off x="958106" y="1554145"/>
            <a:ext cx="4710112" cy="3060179"/>
          </a:xfrm>
          <a:prstGeom prst="rect">
            <a:avLst/>
          </a:prstGeom>
        </p:spPr>
      </p:pic>
      <p:pic>
        <p:nvPicPr>
          <p:cNvPr id="12" name="Picture 11">
            <a:extLst>
              <a:ext uri="{FF2B5EF4-FFF2-40B4-BE49-F238E27FC236}">
                <a16:creationId xmlns:a16="http://schemas.microsoft.com/office/drawing/2014/main" id="{871DB2EE-210C-E169-3CDD-D2BDF5E5A46F}"/>
              </a:ext>
            </a:extLst>
          </p:cNvPr>
          <p:cNvPicPr>
            <a:picLocks noChangeAspect="1"/>
          </p:cNvPicPr>
          <p:nvPr/>
        </p:nvPicPr>
        <p:blipFill>
          <a:blip r:embed="rId7"/>
          <a:stretch>
            <a:fillRect/>
          </a:stretch>
        </p:blipFill>
        <p:spPr>
          <a:xfrm>
            <a:off x="6801627" y="1614736"/>
            <a:ext cx="4710112" cy="2996352"/>
          </a:xfrm>
          <a:prstGeom prst="rect">
            <a:avLst/>
          </a:prstGeom>
        </p:spPr>
      </p:pic>
      <p:sp>
        <p:nvSpPr>
          <p:cNvPr id="13" name="TextBox 12">
            <a:extLst>
              <a:ext uri="{FF2B5EF4-FFF2-40B4-BE49-F238E27FC236}">
                <a16:creationId xmlns:a16="http://schemas.microsoft.com/office/drawing/2014/main" id="{5D252546-C657-2929-8AA6-DDC25C3EAE74}"/>
              </a:ext>
            </a:extLst>
          </p:cNvPr>
          <p:cNvSpPr txBox="1"/>
          <p:nvPr/>
        </p:nvSpPr>
        <p:spPr>
          <a:xfrm>
            <a:off x="2973165" y="1083511"/>
            <a:ext cx="679994" cy="369332"/>
          </a:xfrm>
          <a:prstGeom prst="rect">
            <a:avLst/>
          </a:prstGeom>
          <a:noFill/>
        </p:spPr>
        <p:txBody>
          <a:bodyPr wrap="none" rtlCol="0">
            <a:spAutoFit/>
          </a:bodyPr>
          <a:lstStyle/>
          <a:p>
            <a:r>
              <a:rPr lang="es-ES" dirty="0"/>
              <a:t>Deep</a:t>
            </a:r>
          </a:p>
        </p:txBody>
      </p:sp>
      <p:sp>
        <p:nvSpPr>
          <p:cNvPr id="14" name="TextBox 13">
            <a:extLst>
              <a:ext uri="{FF2B5EF4-FFF2-40B4-BE49-F238E27FC236}">
                <a16:creationId xmlns:a16="http://schemas.microsoft.com/office/drawing/2014/main" id="{C3715866-1A6A-AD76-3D88-803986C0D0DB}"/>
              </a:ext>
            </a:extLst>
          </p:cNvPr>
          <p:cNvSpPr txBox="1"/>
          <p:nvPr/>
        </p:nvSpPr>
        <p:spPr>
          <a:xfrm>
            <a:off x="8854271" y="1066800"/>
            <a:ext cx="914738" cy="369332"/>
          </a:xfrm>
          <a:prstGeom prst="rect">
            <a:avLst/>
          </a:prstGeom>
          <a:noFill/>
        </p:spPr>
        <p:txBody>
          <a:bodyPr wrap="none" rtlCol="0">
            <a:spAutoFit/>
          </a:bodyPr>
          <a:lstStyle/>
          <a:p>
            <a:r>
              <a:rPr lang="es-ES" dirty="0"/>
              <a:t>Shallow</a:t>
            </a:r>
          </a:p>
        </p:txBody>
      </p:sp>
    </p:spTree>
    <p:extLst>
      <p:ext uri="{BB962C8B-B14F-4D97-AF65-F5344CB8AC3E}">
        <p14:creationId xmlns:p14="http://schemas.microsoft.com/office/powerpoint/2010/main" val="813558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a:t>Extra #3 – MMI </a:t>
            </a:r>
            <a:r>
              <a:rPr lang="es-ES" sz="2500" noProof="0" dirty="0" err="1"/>
              <a:t>coupler</a:t>
            </a:r>
            <a:r>
              <a:rPr lang="es-ES" sz="2500" noProof="0" dirty="0"/>
              <a:t> </a:t>
            </a:r>
            <a:r>
              <a:rPr lang="es-ES" sz="2500" noProof="0" dirty="0" err="1"/>
              <a:t>wavelength</a:t>
            </a:r>
            <a:r>
              <a:rPr lang="es-ES" sz="2500" noProof="0" dirty="0"/>
              <a:t> </a:t>
            </a:r>
            <a:r>
              <a:rPr lang="es-ES" sz="2500" noProof="0" dirty="0" err="1"/>
              <a:t>dependence</a:t>
            </a:r>
            <a:br>
              <a:rPr lang="es-ES" sz="2500" spc="-5" noProof="0" dirty="0">
                <a:latin typeface="+mj-lt"/>
                <a:cs typeface="Lucida Sans"/>
              </a:rPr>
            </a:br>
            <a:r>
              <a:rPr lang="es-ES" b="0" noProof="0" dirty="0" err="1"/>
              <a:t>Wavelengths</a:t>
            </a:r>
            <a:r>
              <a:rPr lang="es-ES" b="0" noProof="0" dirty="0"/>
              <a:t> </a:t>
            </a:r>
            <a:r>
              <a:rPr lang="es-ES" b="0" noProof="0" dirty="0" err="1"/>
              <a:t>from</a:t>
            </a:r>
            <a:r>
              <a:rPr lang="es-ES" b="0" noProof="0" dirty="0"/>
              <a:t> 1.5 </a:t>
            </a:r>
            <a:r>
              <a:rPr lang="es-ES" b="0" noProof="0" dirty="0" err="1"/>
              <a:t>to</a:t>
            </a:r>
            <a:r>
              <a:rPr lang="es-ES" b="0" noProof="0" dirty="0"/>
              <a:t> 1.7 µm, </a:t>
            </a:r>
            <a:r>
              <a:rPr lang="es-ES" b="0" noProof="0" dirty="0" err="1"/>
              <a:t>wMMI</a:t>
            </a:r>
            <a:r>
              <a:rPr lang="es-ES" b="0" noProof="0" dirty="0"/>
              <a:t> = 6.6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noProof="0" smtClean="0"/>
              <a:t>18</a:t>
            </a:fld>
            <a:endParaRPr lang="es-ES" noProof="0"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Ambas gráficas muestran lo robusto que es el MMI sobre la longitud de onda, ya que en ambas se aprecia como a medida que aumenta la longitud de onda, el </a:t>
            </a:r>
            <a:r>
              <a:rPr lang="es-ES" sz="1200" noProof="0" dirty="0" err="1">
                <a:latin typeface="Arial" panose="020B0604020202020204" pitchFamily="34" charset="0"/>
                <a:cs typeface="Arial" panose="020B0604020202020204" pitchFamily="34" charset="0"/>
              </a:rPr>
              <a:t>L_pi</a:t>
            </a:r>
            <a:r>
              <a:rPr lang="es-ES" sz="1200" noProof="0" dirty="0">
                <a:latin typeface="Arial" panose="020B0604020202020204" pitchFamily="34" charset="0"/>
                <a:cs typeface="Arial" panose="020B0604020202020204" pitchFamily="34" charset="0"/>
              </a:rPr>
              <a:t> disminuye paulatinamente. </a:t>
            </a:r>
            <a:r>
              <a:rPr lang="es-ES" sz="1200" dirty="0">
                <a:latin typeface="Arial" panose="020B0604020202020204" pitchFamily="34" charset="0"/>
                <a:cs typeface="Arial" panose="020B0604020202020204" pitchFamily="34" charset="0"/>
              </a:rPr>
              <a:t>También puede observarse como en la gráfica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aparece algo de ruido en las muestra, ya que son algo erráticas. Esto es probable que sea debido a la misma simulación.</a:t>
            </a:r>
          </a:p>
          <a:p>
            <a:pPr algn="just"/>
            <a:r>
              <a:rPr lang="es-ES" sz="1200" dirty="0">
                <a:latin typeface="Arial" panose="020B0604020202020204" pitchFamily="34" charset="0"/>
                <a:cs typeface="Arial" panose="020B0604020202020204" pitchFamily="34" charset="0"/>
              </a:rPr>
              <a:t>La principal diferencia entre el acoplador direccional y el MMI es que el MMI baja paulatinamente el </a:t>
            </a:r>
            <a:r>
              <a:rPr lang="es-ES" sz="1200" dirty="0" err="1">
                <a:latin typeface="Arial" panose="020B0604020202020204" pitchFamily="34" charset="0"/>
                <a:cs typeface="Arial" panose="020B0604020202020204" pitchFamily="34" charset="0"/>
              </a:rPr>
              <a:t>L_pi</a:t>
            </a:r>
            <a:r>
              <a:rPr lang="es-ES" sz="1200" dirty="0">
                <a:latin typeface="Arial" panose="020B0604020202020204" pitchFamily="34" charset="0"/>
                <a:cs typeface="Arial" panose="020B0604020202020204" pitchFamily="34" charset="0"/>
              </a:rPr>
              <a:t> con la longitud de onda, mientras que el acoplador direccional tiene variaciones en este por el corte de los modos.</a:t>
            </a:r>
            <a:endParaRPr lang="es-ES" sz="1200" noProof="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a:t>
                </a:r>
                <a14:m>
                  <m:oMath xmlns:m="http://schemas.openxmlformats.org/officeDocument/2006/math">
                    <m:sSub>
                      <m:sSubPr>
                        <m:ctrlPr>
                          <a:rPr lang="es-ES" sz="1800" b="0" i="1" noProof="0" smtClean="0">
                            <a:latin typeface="Cambria Math" panose="02040503050406030204" pitchFamily="18" charset="0"/>
                          </a:rPr>
                        </m:ctrlPr>
                      </m:sSubPr>
                      <m:e>
                        <m:r>
                          <a:rPr lang="es-ES" sz="1800" b="0" i="1" noProof="0" smtClean="0">
                            <a:latin typeface="Cambria Math" panose="02040503050406030204" pitchFamily="18" charset="0"/>
                          </a:rPr>
                          <m:t>𝐿</m:t>
                        </m:r>
                      </m:e>
                      <m:sub>
                        <m:r>
                          <a:rPr lang="es-ES" sz="1800" b="0" i="1" noProof="0" smtClean="0">
                            <a:latin typeface="Cambria Math" panose="02040503050406030204" pitchFamily="18" charset="0"/>
                          </a:rPr>
                          <m:t>𝜋</m:t>
                        </m:r>
                      </m:sub>
                    </m:sSub>
                  </m:oMath>
                </a14:m>
                <a:r>
                  <a:rPr lang="es-ES" noProof="0" dirty="0"/>
                  <a:t> vs </a:t>
                </a:r>
                <a:r>
                  <a:rPr lang="es-ES" noProof="0" dirty="0" err="1"/>
                  <a:t>wvl</a:t>
                </a:r>
                <a:r>
                  <a:rPr lang="es-ES" noProof="0" dirty="0"/>
                  <a:t> </a:t>
                </a:r>
                <a:r>
                  <a:rPr lang="es-ES" noProof="0" dirty="0" err="1"/>
                  <a:t>for</a:t>
                </a:r>
                <a:r>
                  <a:rPr lang="es-ES" noProof="0" dirty="0"/>
                  <a:t> TE and TM </a:t>
                </a:r>
                <a:r>
                  <a:rPr lang="es-ES" noProof="0" dirty="0" err="1"/>
                  <a:t>plot</a:t>
                </a:r>
                <a:r>
                  <a:rPr lang="es-ES" noProof="0" dirty="0"/>
                  <a:t> </a:t>
                </a:r>
                <a:r>
                  <a:rPr lang="es-ES" noProof="0" dirty="0" err="1"/>
                  <a:t>here</a:t>
                </a:r>
                <a:endParaRPr lang="es-ES" noProof="0" dirty="0"/>
              </a:p>
            </p:txBody>
          </p:sp>
        </mc:Choice>
        <mc:Fallback>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s-ES" b="1" noProof="0" dirty="0" err="1"/>
                  <a:t>shallow</a:t>
                </a:r>
                <a:r>
                  <a:rPr lang="es-ES" noProof="0" dirty="0"/>
                  <a:t> </a:t>
                </a:r>
                <a:r>
                  <a:rPr lang="es-ES" noProof="0" dirty="0" err="1"/>
                  <a:t>waveguide</a:t>
                </a:r>
                <a:endParaRPr lang="es-ES" noProof="0" dirty="0"/>
              </a:p>
              <a:p>
                <a:pPr algn="ctr"/>
                <a:endParaRPr lang="es-ES" noProof="0" dirty="0"/>
              </a:p>
              <a:p>
                <a:pPr algn="ctr"/>
                <a:r>
                  <a:rPr lang="es-ES" noProof="0" dirty="0"/>
                  <a:t>Paste </a:t>
                </a:r>
                <a14:m>
                  <m:oMath xmlns:m="http://schemas.openxmlformats.org/officeDocument/2006/math">
                    <m:sSub>
                      <m:sSubPr>
                        <m:ctrlPr>
                          <a:rPr lang="es-ES" sz="1800" b="0" i="1" noProof="0" smtClean="0">
                            <a:latin typeface="Cambria Math" panose="02040503050406030204" pitchFamily="18" charset="0"/>
                          </a:rPr>
                        </m:ctrlPr>
                      </m:sSubPr>
                      <m:e>
                        <m:r>
                          <a:rPr lang="es-ES" sz="1800" b="0" i="1" noProof="0" smtClean="0">
                            <a:latin typeface="Cambria Math" panose="02040503050406030204" pitchFamily="18" charset="0"/>
                          </a:rPr>
                          <m:t>𝐿</m:t>
                        </m:r>
                      </m:e>
                      <m:sub>
                        <m:r>
                          <a:rPr lang="es-ES" sz="1800" b="0" i="1" noProof="0" smtClean="0">
                            <a:latin typeface="Cambria Math" panose="02040503050406030204" pitchFamily="18" charset="0"/>
                          </a:rPr>
                          <m:t>𝜋</m:t>
                        </m:r>
                      </m:sub>
                    </m:sSub>
                  </m:oMath>
                </a14:m>
                <a:r>
                  <a:rPr lang="es-ES" noProof="0" dirty="0"/>
                  <a:t> vs </a:t>
                </a:r>
                <a:r>
                  <a:rPr lang="es-ES" noProof="0" dirty="0" err="1"/>
                  <a:t>wvl</a:t>
                </a:r>
                <a:r>
                  <a:rPr lang="es-ES" noProof="0" dirty="0"/>
                  <a:t> </a:t>
                </a:r>
                <a:r>
                  <a:rPr lang="es-ES" noProof="0" dirty="0" err="1"/>
                  <a:t>for</a:t>
                </a:r>
                <a:r>
                  <a:rPr lang="es-ES" noProof="0" dirty="0"/>
                  <a:t> TE and TM </a:t>
                </a:r>
                <a:r>
                  <a:rPr lang="es-ES" noProof="0" dirty="0" err="1"/>
                  <a:t>plot</a:t>
                </a:r>
                <a:r>
                  <a:rPr lang="es-ES" noProof="0" dirty="0"/>
                  <a:t> </a:t>
                </a:r>
                <a:r>
                  <a:rPr lang="es-ES" noProof="0" dirty="0" err="1"/>
                  <a:t>here</a:t>
                </a:r>
                <a:endParaRPr lang="es-ES" noProof="0" dirty="0"/>
              </a:p>
            </p:txBody>
          </p:sp>
        </mc:Choice>
        <mc:Fallback>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8" name="Picture 7">
            <a:extLst>
              <a:ext uri="{FF2B5EF4-FFF2-40B4-BE49-F238E27FC236}">
                <a16:creationId xmlns:a16="http://schemas.microsoft.com/office/drawing/2014/main" id="{7B1FB051-0344-9BEA-291F-227A92407E4F}"/>
              </a:ext>
            </a:extLst>
          </p:cNvPr>
          <p:cNvPicPr>
            <a:picLocks noChangeAspect="1"/>
          </p:cNvPicPr>
          <p:nvPr/>
        </p:nvPicPr>
        <p:blipFill>
          <a:blip r:embed="rId6"/>
          <a:stretch>
            <a:fillRect/>
          </a:stretch>
        </p:blipFill>
        <p:spPr>
          <a:xfrm>
            <a:off x="1016818" y="1583168"/>
            <a:ext cx="4671804" cy="3035291"/>
          </a:xfrm>
          <a:prstGeom prst="rect">
            <a:avLst/>
          </a:prstGeom>
        </p:spPr>
      </p:pic>
      <p:pic>
        <p:nvPicPr>
          <p:cNvPr id="12" name="Picture 11">
            <a:extLst>
              <a:ext uri="{FF2B5EF4-FFF2-40B4-BE49-F238E27FC236}">
                <a16:creationId xmlns:a16="http://schemas.microsoft.com/office/drawing/2014/main" id="{2792AAD4-4FD9-6862-D9E6-D28FA5E82C7D}"/>
              </a:ext>
            </a:extLst>
          </p:cNvPr>
          <p:cNvPicPr>
            <a:picLocks noChangeAspect="1"/>
          </p:cNvPicPr>
          <p:nvPr/>
        </p:nvPicPr>
        <p:blipFill>
          <a:blip r:embed="rId7"/>
          <a:stretch>
            <a:fillRect/>
          </a:stretch>
        </p:blipFill>
        <p:spPr>
          <a:xfrm>
            <a:off x="6726820" y="1583168"/>
            <a:ext cx="4671804" cy="3035290"/>
          </a:xfrm>
          <a:prstGeom prst="rect">
            <a:avLst/>
          </a:prstGeom>
        </p:spPr>
      </p:pic>
      <p:sp>
        <p:nvSpPr>
          <p:cNvPr id="13" name="TextBox 12">
            <a:extLst>
              <a:ext uri="{FF2B5EF4-FFF2-40B4-BE49-F238E27FC236}">
                <a16:creationId xmlns:a16="http://schemas.microsoft.com/office/drawing/2014/main" id="{F56B83DE-2760-B696-4530-2BA7433AEEEB}"/>
              </a:ext>
            </a:extLst>
          </p:cNvPr>
          <p:cNvSpPr txBox="1"/>
          <p:nvPr/>
        </p:nvSpPr>
        <p:spPr>
          <a:xfrm>
            <a:off x="2973165" y="1093570"/>
            <a:ext cx="679994" cy="369332"/>
          </a:xfrm>
          <a:prstGeom prst="rect">
            <a:avLst/>
          </a:prstGeom>
          <a:noFill/>
        </p:spPr>
        <p:txBody>
          <a:bodyPr wrap="none" rtlCol="0">
            <a:spAutoFit/>
          </a:bodyPr>
          <a:lstStyle/>
          <a:p>
            <a:r>
              <a:rPr lang="es-ES" dirty="0"/>
              <a:t>Deep</a:t>
            </a:r>
          </a:p>
        </p:txBody>
      </p:sp>
      <p:sp>
        <p:nvSpPr>
          <p:cNvPr id="14" name="TextBox 13">
            <a:extLst>
              <a:ext uri="{FF2B5EF4-FFF2-40B4-BE49-F238E27FC236}">
                <a16:creationId xmlns:a16="http://schemas.microsoft.com/office/drawing/2014/main" id="{5DC07607-7F75-EE6D-6AB5-8176AAC9068D}"/>
              </a:ext>
            </a:extLst>
          </p:cNvPr>
          <p:cNvSpPr txBox="1"/>
          <p:nvPr/>
        </p:nvSpPr>
        <p:spPr>
          <a:xfrm>
            <a:off x="8854271" y="1076859"/>
            <a:ext cx="914738" cy="369332"/>
          </a:xfrm>
          <a:prstGeom prst="rect">
            <a:avLst/>
          </a:prstGeom>
          <a:noFill/>
        </p:spPr>
        <p:txBody>
          <a:bodyPr wrap="none" rtlCol="0">
            <a:spAutoFit/>
          </a:bodyPr>
          <a:lstStyle/>
          <a:p>
            <a:r>
              <a:rPr lang="es-ES" dirty="0"/>
              <a:t>Shallow</a:t>
            </a:r>
          </a:p>
        </p:txBody>
      </p:sp>
    </p:spTree>
    <p:extLst>
      <p:ext uri="{BB962C8B-B14F-4D97-AF65-F5344CB8AC3E}">
        <p14:creationId xmlns:p14="http://schemas.microsoft.com/office/powerpoint/2010/main" val="955145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dirty="0"/>
              <a:t>Extra #4 – MMI </a:t>
            </a:r>
            <a:r>
              <a:rPr lang="es-ES" sz="2500" noProof="0" dirty="0" err="1"/>
              <a:t>coupler</a:t>
            </a:r>
            <a:r>
              <a:rPr lang="es-ES" sz="2500" noProof="0" dirty="0"/>
              <a:t> </a:t>
            </a:r>
            <a:r>
              <a:rPr lang="es-ES" sz="2500" noProof="0" dirty="0" err="1"/>
              <a:t>body</a:t>
            </a:r>
            <a:r>
              <a:rPr lang="es-ES" sz="2500" noProof="0" dirty="0"/>
              <a:t> </a:t>
            </a:r>
            <a:r>
              <a:rPr lang="es-ES" sz="2500" noProof="0" dirty="0" err="1"/>
              <a:t>width</a:t>
            </a:r>
            <a:r>
              <a:rPr lang="es-ES" sz="2500" noProof="0" dirty="0"/>
              <a:t> </a:t>
            </a:r>
            <a:r>
              <a:rPr lang="es-ES" sz="2500" noProof="0" dirty="0" err="1"/>
              <a:t>dependence</a:t>
            </a:r>
            <a:br>
              <a:rPr lang="es-ES" sz="2500" spc="-5" noProof="0" dirty="0">
                <a:latin typeface="+mj-lt"/>
                <a:cs typeface="Lucida Sans"/>
              </a:rPr>
            </a:br>
            <a:r>
              <a:rPr lang="es-ES" b="0" noProof="0" dirty="0" err="1"/>
              <a:t>Wavelength</a:t>
            </a:r>
            <a:r>
              <a:rPr lang="es-ES" b="0" noProof="0" dirty="0"/>
              <a:t> 1.55 µm, </a:t>
            </a:r>
            <a:r>
              <a:rPr lang="es-ES" b="0" noProof="0" dirty="0" err="1"/>
              <a:t>wMMI</a:t>
            </a:r>
            <a:r>
              <a:rPr lang="es-ES" b="0" noProof="0" dirty="0"/>
              <a:t> = 5-10 µm (</a:t>
            </a:r>
            <a:r>
              <a:rPr lang="es-ES" b="0" noProof="0" dirty="0" err="1"/>
              <a:t>steps</a:t>
            </a:r>
            <a:r>
              <a:rPr lang="es-ES" b="0" noProof="0" dirty="0"/>
              <a:t> 0.5 µm)</a:t>
            </a: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noProof="0" smtClean="0"/>
              <a:t>19</a:t>
            </a:fld>
            <a:endParaRPr lang="es-ES" noProof="0" dirty="0"/>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noProof="0" dirty="0"/>
              <a:t>LAB 2.0. COUPLERS</a:t>
            </a:r>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Polarization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independent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coupler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there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any</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point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for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which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MMI </a:t>
            </a:r>
            <a:r>
              <a:rPr lang="es-ES" sz="1200" noProof="0" dirty="0" err="1">
                <a:latin typeface="Arial" panose="020B0604020202020204" pitchFamily="34" charset="0"/>
                <a:cs typeface="Arial" panose="020B0604020202020204" pitchFamily="34" charset="0"/>
              </a:rPr>
              <a:t>coupler</a:t>
            </a:r>
            <a:r>
              <a:rPr lang="es-ES" sz="1200" noProof="0" dirty="0">
                <a:latin typeface="Arial" panose="020B0604020202020204" pitchFamily="34" charset="0"/>
                <a:cs typeface="Arial" panose="020B0604020202020204" pitchFamily="34" charset="0"/>
              </a:rPr>
              <a:t> can </a:t>
            </a:r>
            <a:r>
              <a:rPr lang="es-ES" sz="1200" noProof="0" dirty="0" err="1">
                <a:latin typeface="Arial" panose="020B0604020202020204" pitchFamily="34" charset="0"/>
                <a:cs typeface="Arial" panose="020B0604020202020204" pitchFamily="34" charset="0"/>
              </a:rPr>
              <a:t>work</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identically</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for</a:t>
            </a:r>
            <a:r>
              <a:rPr lang="es-ES" sz="1200" noProof="0" dirty="0">
                <a:latin typeface="Arial" panose="020B0604020202020204" pitchFamily="34" charset="0"/>
                <a:cs typeface="Arial" panose="020B0604020202020204" pitchFamily="34" charset="0"/>
              </a:rPr>
              <a:t> TE and TM? </a:t>
            </a:r>
            <a:r>
              <a:rPr lang="es-ES" sz="1200" noProof="0" dirty="0" err="1">
                <a:latin typeface="Arial" panose="020B0604020202020204" pitchFamily="34" charset="0"/>
                <a:cs typeface="Arial" panose="020B0604020202020204" pitchFamily="34" charset="0"/>
              </a:rPr>
              <a:t>Answer</a:t>
            </a:r>
            <a:r>
              <a:rPr lang="es-ES" sz="1200" noProof="0" dirty="0">
                <a:latin typeface="Arial" panose="020B0604020202020204" pitchFamily="34" charset="0"/>
                <a:cs typeface="Arial" panose="020B0604020202020204" pitchFamily="34" charset="0"/>
              </a:rPr>
              <a:t> yes / no and </a:t>
            </a:r>
            <a:r>
              <a:rPr lang="es-ES" sz="1200" noProof="0" dirty="0" err="1">
                <a:latin typeface="Arial" panose="020B0604020202020204" pitchFamily="34" charset="0"/>
                <a:cs typeface="Arial" panose="020B0604020202020204" pitchFamily="34" charset="0"/>
              </a:rPr>
              <a:t>explain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why</a:t>
            </a:r>
            <a:r>
              <a:rPr lang="es-ES" sz="1200" noProof="0" dirty="0">
                <a:latin typeface="Arial" panose="020B0604020202020204" pitchFamily="34" charset="0"/>
                <a:cs typeface="Arial" panose="020B0604020202020204" pitchFamily="34" charset="0"/>
              </a:rPr>
              <a:t>?</a:t>
            </a:r>
          </a:p>
          <a:p>
            <a:pPr algn="just"/>
            <a:r>
              <a:rPr lang="es-ES" sz="1200" dirty="0">
                <a:latin typeface="Arial" panose="020B0604020202020204" pitchFamily="34" charset="0"/>
                <a:cs typeface="Arial" panose="020B0604020202020204" pitchFamily="34" charset="0"/>
              </a:rPr>
              <a:t>No existe ningún punto para el que el MMI funcione de igual manera para el modo TE y TM, ya que para ello debería de haber algún punto en las gráficas en el que los dos modos coincidieran</a:t>
            </a:r>
            <a:endParaRPr lang="es-ES" sz="1200" noProof="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a:t>
                </a:r>
                <a14:m>
                  <m:oMath xmlns:m="http://schemas.openxmlformats.org/officeDocument/2006/math">
                    <m:sSub>
                      <m:sSubPr>
                        <m:ctrlPr>
                          <a:rPr lang="es-ES" sz="1800" b="0" i="1" noProof="0" smtClean="0">
                            <a:latin typeface="Cambria Math" panose="02040503050406030204" pitchFamily="18" charset="0"/>
                          </a:rPr>
                        </m:ctrlPr>
                      </m:sSubPr>
                      <m:e>
                        <m:r>
                          <a:rPr lang="es-ES" sz="1800" b="0" i="1" noProof="0" smtClean="0">
                            <a:latin typeface="Cambria Math" panose="02040503050406030204" pitchFamily="18" charset="0"/>
                          </a:rPr>
                          <m:t>𝐿</m:t>
                        </m:r>
                      </m:e>
                      <m:sub>
                        <m:r>
                          <a:rPr lang="es-ES" sz="1800" b="0" i="1" noProof="0" smtClean="0">
                            <a:latin typeface="Cambria Math" panose="02040503050406030204" pitchFamily="18" charset="0"/>
                          </a:rPr>
                          <m:t>𝜋</m:t>
                        </m:r>
                      </m:sub>
                    </m:sSub>
                  </m:oMath>
                </a14:m>
                <a:r>
                  <a:rPr lang="es-ES" noProof="0" dirty="0"/>
                  <a:t> vs </a:t>
                </a:r>
                <a:r>
                  <a:rPr lang="es-ES" noProof="0" dirty="0" err="1"/>
                  <a:t>width</a:t>
                </a:r>
                <a:r>
                  <a:rPr lang="es-ES" noProof="0" dirty="0"/>
                  <a:t> </a:t>
                </a:r>
                <a:r>
                  <a:rPr lang="es-ES" noProof="0" dirty="0" err="1"/>
                  <a:t>for</a:t>
                </a:r>
                <a:r>
                  <a:rPr lang="es-ES" noProof="0" dirty="0"/>
                  <a:t> TE and TM </a:t>
                </a:r>
                <a:r>
                  <a:rPr lang="es-ES" noProof="0" dirty="0" err="1"/>
                  <a:t>plot</a:t>
                </a:r>
                <a:r>
                  <a:rPr lang="es-ES" noProof="0" dirty="0"/>
                  <a:t> </a:t>
                </a:r>
                <a:r>
                  <a:rPr lang="es-ES" noProof="0" dirty="0" err="1"/>
                  <a:t>here</a:t>
                </a:r>
                <a:endParaRPr lang="es-ES" noProof="0" dirty="0"/>
              </a:p>
            </p:txBody>
          </p:sp>
        </mc:Choice>
        <mc:Fallback>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s-ES" b="1" noProof="0" dirty="0" err="1"/>
                  <a:t>shallow</a:t>
                </a:r>
                <a:r>
                  <a:rPr lang="es-ES" noProof="0" dirty="0"/>
                  <a:t> </a:t>
                </a:r>
                <a:r>
                  <a:rPr lang="es-ES" noProof="0" dirty="0" err="1"/>
                  <a:t>waveguide</a:t>
                </a:r>
                <a:endParaRPr lang="es-ES" noProof="0" dirty="0"/>
              </a:p>
              <a:p>
                <a:pPr algn="ctr"/>
                <a:endParaRPr lang="es-ES" noProof="0" dirty="0"/>
              </a:p>
              <a:p>
                <a:pPr algn="ctr"/>
                <a:r>
                  <a:rPr lang="es-ES" noProof="0" dirty="0"/>
                  <a:t>Paste </a:t>
                </a:r>
                <a14:m>
                  <m:oMath xmlns:m="http://schemas.openxmlformats.org/officeDocument/2006/math">
                    <m:sSub>
                      <m:sSubPr>
                        <m:ctrlPr>
                          <a:rPr lang="es-ES" sz="1800" b="0" i="1" noProof="0" smtClean="0">
                            <a:latin typeface="Cambria Math" panose="02040503050406030204" pitchFamily="18" charset="0"/>
                          </a:rPr>
                        </m:ctrlPr>
                      </m:sSubPr>
                      <m:e>
                        <m:r>
                          <a:rPr lang="es-ES" sz="1800" b="0" i="1" noProof="0" smtClean="0">
                            <a:latin typeface="Cambria Math" panose="02040503050406030204" pitchFamily="18" charset="0"/>
                          </a:rPr>
                          <m:t>𝐿</m:t>
                        </m:r>
                      </m:e>
                      <m:sub>
                        <m:r>
                          <a:rPr lang="es-ES" sz="1800" b="0" i="1" noProof="0" smtClean="0">
                            <a:latin typeface="Cambria Math" panose="02040503050406030204" pitchFamily="18" charset="0"/>
                          </a:rPr>
                          <m:t>𝜋</m:t>
                        </m:r>
                      </m:sub>
                    </m:sSub>
                  </m:oMath>
                </a14:m>
                <a:r>
                  <a:rPr lang="es-ES" noProof="0" dirty="0"/>
                  <a:t> vs </a:t>
                </a:r>
                <a:r>
                  <a:rPr lang="es-ES" noProof="0" dirty="0" err="1"/>
                  <a:t>width</a:t>
                </a:r>
                <a:r>
                  <a:rPr lang="es-ES" noProof="0" dirty="0"/>
                  <a:t> </a:t>
                </a:r>
                <a:r>
                  <a:rPr lang="es-ES" noProof="0" dirty="0" err="1"/>
                  <a:t>for</a:t>
                </a:r>
                <a:r>
                  <a:rPr lang="es-ES" noProof="0" dirty="0"/>
                  <a:t> TE and TM </a:t>
                </a:r>
                <a:r>
                  <a:rPr lang="es-ES" noProof="0" dirty="0" err="1"/>
                  <a:t>plot</a:t>
                </a:r>
                <a:r>
                  <a:rPr lang="es-ES" noProof="0" dirty="0"/>
                  <a:t> </a:t>
                </a:r>
                <a:r>
                  <a:rPr lang="es-ES" noProof="0" dirty="0" err="1"/>
                  <a:t>here</a:t>
                </a:r>
                <a:endParaRPr lang="es-ES" noProof="0" dirty="0"/>
              </a:p>
            </p:txBody>
          </p:sp>
        </mc:Choice>
        <mc:Fallback>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8" name="Picture 7">
            <a:extLst>
              <a:ext uri="{FF2B5EF4-FFF2-40B4-BE49-F238E27FC236}">
                <a16:creationId xmlns:a16="http://schemas.microsoft.com/office/drawing/2014/main" id="{5ED6868B-1A39-45B3-ACBC-33582F06AE63}"/>
              </a:ext>
            </a:extLst>
          </p:cNvPr>
          <p:cNvPicPr>
            <a:picLocks noChangeAspect="1"/>
          </p:cNvPicPr>
          <p:nvPr/>
        </p:nvPicPr>
        <p:blipFill>
          <a:blip r:embed="rId6"/>
          <a:stretch>
            <a:fillRect/>
          </a:stretch>
        </p:blipFill>
        <p:spPr>
          <a:xfrm>
            <a:off x="1112081" y="1631244"/>
            <a:ext cx="4538924" cy="2939139"/>
          </a:xfrm>
          <a:prstGeom prst="rect">
            <a:avLst/>
          </a:prstGeom>
        </p:spPr>
      </p:pic>
      <p:pic>
        <p:nvPicPr>
          <p:cNvPr id="12" name="Picture 11">
            <a:extLst>
              <a:ext uri="{FF2B5EF4-FFF2-40B4-BE49-F238E27FC236}">
                <a16:creationId xmlns:a16="http://schemas.microsoft.com/office/drawing/2014/main" id="{83EFFC31-F78E-26F1-86D7-69CC583AEA62}"/>
              </a:ext>
            </a:extLst>
          </p:cNvPr>
          <p:cNvPicPr>
            <a:picLocks noChangeAspect="1"/>
          </p:cNvPicPr>
          <p:nvPr/>
        </p:nvPicPr>
        <p:blipFill>
          <a:blip r:embed="rId7"/>
          <a:stretch>
            <a:fillRect/>
          </a:stretch>
        </p:blipFill>
        <p:spPr>
          <a:xfrm>
            <a:off x="6791386" y="1664757"/>
            <a:ext cx="4546634" cy="2944132"/>
          </a:xfrm>
          <a:prstGeom prst="rect">
            <a:avLst/>
          </a:prstGeom>
        </p:spPr>
      </p:pic>
      <p:sp>
        <p:nvSpPr>
          <p:cNvPr id="13" name="TextBox 12">
            <a:extLst>
              <a:ext uri="{FF2B5EF4-FFF2-40B4-BE49-F238E27FC236}">
                <a16:creationId xmlns:a16="http://schemas.microsoft.com/office/drawing/2014/main" id="{5C38B80C-E6B9-5289-7A57-8B8DCF14344D}"/>
              </a:ext>
            </a:extLst>
          </p:cNvPr>
          <p:cNvSpPr txBox="1"/>
          <p:nvPr/>
        </p:nvSpPr>
        <p:spPr>
          <a:xfrm>
            <a:off x="2973165" y="1093570"/>
            <a:ext cx="679994" cy="369332"/>
          </a:xfrm>
          <a:prstGeom prst="rect">
            <a:avLst/>
          </a:prstGeom>
          <a:noFill/>
        </p:spPr>
        <p:txBody>
          <a:bodyPr wrap="none" rtlCol="0">
            <a:spAutoFit/>
          </a:bodyPr>
          <a:lstStyle/>
          <a:p>
            <a:r>
              <a:rPr lang="es-ES" dirty="0"/>
              <a:t>Deep</a:t>
            </a:r>
          </a:p>
        </p:txBody>
      </p:sp>
      <p:sp>
        <p:nvSpPr>
          <p:cNvPr id="14" name="TextBox 13">
            <a:extLst>
              <a:ext uri="{FF2B5EF4-FFF2-40B4-BE49-F238E27FC236}">
                <a16:creationId xmlns:a16="http://schemas.microsoft.com/office/drawing/2014/main" id="{20373B19-D2AA-E3C1-60DC-601755CADB41}"/>
              </a:ext>
            </a:extLst>
          </p:cNvPr>
          <p:cNvSpPr txBox="1"/>
          <p:nvPr/>
        </p:nvSpPr>
        <p:spPr>
          <a:xfrm>
            <a:off x="8854271" y="1076859"/>
            <a:ext cx="914738" cy="369332"/>
          </a:xfrm>
          <a:prstGeom prst="rect">
            <a:avLst/>
          </a:prstGeom>
          <a:noFill/>
        </p:spPr>
        <p:txBody>
          <a:bodyPr wrap="none" rtlCol="0">
            <a:spAutoFit/>
          </a:bodyPr>
          <a:lstStyle/>
          <a:p>
            <a:r>
              <a:rPr lang="es-ES" dirty="0"/>
              <a:t>Shallow</a:t>
            </a:r>
          </a:p>
        </p:txBody>
      </p:sp>
    </p:spTree>
    <p:extLst>
      <p:ext uri="{BB962C8B-B14F-4D97-AF65-F5344CB8AC3E}">
        <p14:creationId xmlns:p14="http://schemas.microsoft.com/office/powerpoint/2010/main" val="535939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lang="es-ES" noProof="0" dirty="0"/>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lang="es-ES" sz="3200" b="1" spc="-5" noProof="0" dirty="0" err="1">
                <a:solidFill>
                  <a:srgbClr val="FFFFFF"/>
                </a:solidFill>
                <a:latin typeface="Lucida Sans"/>
                <a:cs typeface="Lucida Sans"/>
              </a:rPr>
              <a:t>Thank</a:t>
            </a:r>
            <a:r>
              <a:rPr lang="es-ES" sz="3200" b="1" spc="-55" noProof="0" dirty="0">
                <a:solidFill>
                  <a:srgbClr val="FFFFFF"/>
                </a:solidFill>
                <a:latin typeface="Lucida Sans"/>
                <a:cs typeface="Lucida Sans"/>
              </a:rPr>
              <a:t> </a:t>
            </a:r>
            <a:r>
              <a:rPr lang="es-ES" sz="3200" b="1" noProof="0" dirty="0" err="1">
                <a:solidFill>
                  <a:srgbClr val="FFFFFF"/>
                </a:solidFill>
                <a:latin typeface="Lucida Sans"/>
                <a:cs typeface="Lucida Sans"/>
              </a:rPr>
              <a:t>you</a:t>
            </a:r>
            <a:endParaRPr lang="es-ES" sz="3200" noProof="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noProof="0" smtClean="0"/>
              <a:t>20</a:t>
            </a:fld>
            <a:endParaRPr lang="es-ES"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8899</TotalTime>
  <Words>2040</Words>
  <Application>Microsoft Office PowerPoint</Application>
  <PresentationFormat>Widescreen</PresentationFormat>
  <Paragraphs>187</Paragraphs>
  <Slides>20</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Cambria Math</vt:lpstr>
      <vt:lpstr>Lucida Sans</vt:lpstr>
      <vt:lpstr>Times New Roman</vt:lpstr>
      <vt:lpstr>Wingdings</vt:lpstr>
      <vt:lpstr>Office Theme</vt:lpstr>
      <vt:lpstr>PowerPoint Presentation</vt:lpstr>
      <vt:lpstr>Instructions General</vt:lpstr>
      <vt:lpstr>PowerPoint Presentation</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PowerPoint Presentation</vt:lpstr>
      <vt:lpstr>Learning outcome #5 – Multimode Interference (MMI) Coupler cross-section</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David Llopis Escriche</cp:lastModifiedBy>
  <cp:revision>18</cp:revision>
  <dcterms:created xsi:type="dcterms:W3CDTF">2025-01-27T02:46:57Z</dcterms:created>
  <dcterms:modified xsi:type="dcterms:W3CDTF">2026-05-03T23:12:09Z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